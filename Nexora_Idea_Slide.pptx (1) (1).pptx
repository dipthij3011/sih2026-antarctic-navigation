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</p:sldIdLst>
  <p:sldSz cx="18288000" cy="10287000"/>
  <p:notesSz cx="6858000" cy="9144000"/>
  <p:embeddedFontLst>
    <p:embeddedFont>
      <p:font typeface="Times New Roman Bold" panose="02020803070505020304"/>
      <p:bold r:id="rId13"/>
    </p:embeddedFont>
    <p:embeddedFont>
      <p:font typeface="Garamond Bold" panose="02020804030307010803"/>
      <p:bold r:id="rId14"/>
    </p:embeddedFont>
    <p:embeddedFont>
      <p:font typeface="Arial Bold" panose="020B0704020202020204"/>
      <p:bold r:id="rId15"/>
    </p:embeddedFont>
    <p:embeddedFont>
      <p:font typeface="Calibri (MS) Italics" panose="020F05020202040A0204"/>
      <p:italic r:id="rId16"/>
    </p:embeddedFont>
    <p:embeddedFont>
      <p:font typeface="League Spartan" panose="00000800000000000000"/>
      <p:bold r:id="rId17"/>
    </p:embeddedFont>
    <p:embeddedFont>
      <p:font typeface="Calibri (MS) Bold" panose="020F0702030404030204"/>
      <p:bold r:id="rId18"/>
    </p:embeddedFont>
    <p:embeddedFont>
      <p:font typeface="Helvetica World Bold" panose="020B0800040000020004" charset="-122"/>
      <p:bold r:id="rId19"/>
    </p:embeddedFont>
    <p:embeddedFont>
      <p:font typeface="Cambria Bold" panose="02040803050406030204"/>
      <p:bold r:id="rId20"/>
    </p:embeddedFont>
    <p:embeddedFont>
      <p:font typeface="Arial MT Pro" panose="020B0502020202020204"/>
      <p:regular r:id="rId21"/>
    </p:embeddedFont>
    <p:embeddedFont>
      <p:font typeface="Canva Sans 1 Bold" panose="020B0803030501040103"/>
      <p:bold r:id="rId22"/>
    </p:embeddedFont>
    <p:embeddedFont>
      <p:font typeface="Calibri (MS) Bold Italics" panose="020F07020304040A0204"/>
      <p:boldItalic r:id="rId23"/>
    </p:embeddedFont>
    <p:embeddedFont>
      <p:font typeface="Aptos Bold" panose="020B0004020202020204"/>
      <p:bold r:id="rId24"/>
    </p:embeddedFont>
    <p:embeddedFont>
      <p:font typeface="Arial Nova Bold" panose="020B0804020202020204"/>
      <p:bold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6" userDrawn="1">
          <p15:clr>
            <a:srgbClr val="A4A3A4"/>
          </p15:clr>
        </p15:guide>
        <p15:guide id="2" pos="2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096"/>
        <p:guide pos="29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17.fntdata"/><Relationship Id="rId28" Type="http://schemas.openxmlformats.org/officeDocument/2006/relationships/font" Target="fonts/font16.fntdata"/><Relationship Id="rId27" Type="http://schemas.openxmlformats.org/officeDocument/2006/relationships/font" Target="fonts/font15.fntdata"/><Relationship Id="rId26" Type="http://schemas.openxmlformats.org/officeDocument/2006/relationships/font" Target="fonts/font14.fntdata"/><Relationship Id="rId25" Type="http://schemas.openxmlformats.org/officeDocument/2006/relationships/font" Target="fonts/font13.fntdata"/><Relationship Id="rId24" Type="http://schemas.openxmlformats.org/officeDocument/2006/relationships/font" Target="fonts/font12.fntdata"/><Relationship Id="rId23" Type="http://schemas.openxmlformats.org/officeDocument/2006/relationships/font" Target="fonts/font11.fntdata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5.png"/><Relationship Id="rId11" Type="http://schemas.openxmlformats.org/officeDocument/2006/relationships/image" Target="../media/image5.png"/><Relationship Id="rId10" Type="http://schemas.openxmlformats.org/officeDocument/2006/relationships/image" Target="../media/image14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3.png"/><Relationship Id="rId12" Type="http://schemas.openxmlformats.org/officeDocument/2006/relationships/image" Target="../media/image5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8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6.png"/><Relationship Id="rId2" Type="http://schemas.openxmlformats.org/officeDocument/2006/relationships/image" Target="../media/image24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5.png"/><Relationship Id="rId10" Type="http://schemas.openxmlformats.org/officeDocument/2006/relationships/image" Target="../media/image30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2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7.png"/><Relationship Id="rId3" Type="http://schemas.openxmlformats.org/officeDocument/2006/relationships/image" Target="../media/image31.png"/><Relationship Id="rId2" Type="http://schemas.openxmlformats.org/officeDocument/2006/relationships/image" Target="../media/image18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5.png"/><Relationship Id="rId4" Type="http://schemas.openxmlformats.org/officeDocument/2006/relationships/hyperlink" Target="https://community.wmo.int/site/knowledge-hub/programmes-and-initiatives/marine-services/sea-ice-guidance" TargetMode="External"/><Relationship Id="rId3" Type="http://schemas.openxmlformats.org/officeDocument/2006/relationships/hyperlink" Target="https://www.imo.org/en/ourwork/safety/pages/polar-code.aspx" TargetMode="External"/><Relationship Id="rId2" Type="http://schemas.openxmlformats.org/officeDocument/2006/relationships/hyperlink" Target="https://nsidc.org/data/seaice_index" TargetMode="External"/><Relationship Id="rId1" Type="http://schemas.openxmlformats.org/officeDocument/2006/relationships/hyperlink" Target="https://www.mosdac.gov.in/sea-ice-occurrence-probabil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</a:p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TITLE PAGE</a:t>
            </a:r>
            <a:endParaRPr lang="en-US" sz="4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SMART INDIA HACKATHON 2026</a:t>
              </a:r>
              <a:endParaRPr lang="en-US" sz="6000" b="1">
                <a:solidFill>
                  <a:srgbClr val="1F497D"/>
                </a:solidFill>
                <a:latin typeface="Garamond Bold" panose="02020804030307010803"/>
                <a:ea typeface="Garamond Bold" panose="02020804030307010803"/>
                <a:cs typeface="Garamond Bold" panose="02020804030307010803"/>
                <a:sym typeface="Garamond Bold" panose="02020804030307010803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7019" y="3131820"/>
            <a:ext cx="8703945" cy="831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marL="651510" lvl="1" indent="-325755" algn="just">
              <a:lnSpc>
                <a:spcPts val="86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Problem Statement ID –</a:t>
            </a:r>
            <a:endParaRPr lang="en-US" sz="3600" b="1">
              <a:solidFill>
                <a:srgbClr val="0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651510" lvl="1" indent="-325755" algn="just">
              <a:lnSpc>
                <a:spcPts val="86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Problem Statement Title-</a:t>
            </a:r>
            <a:endParaRPr lang="en-US" sz="3600" b="1">
              <a:solidFill>
                <a:srgbClr val="0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651510" lvl="1" indent="-325755" algn="just">
              <a:lnSpc>
                <a:spcPts val="86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Theme-</a:t>
            </a:r>
            <a:r>
              <a:rPr lang="en-IN" altLang="en-US" sz="36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 </a:t>
            </a:r>
            <a:r>
              <a:rPr lang="en-US" sz="36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Transportation &amp; Logistics</a:t>
            </a:r>
            <a:endParaRPr lang="en-US" sz="3600" b="1">
              <a:solidFill>
                <a:srgbClr val="0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651510" lvl="1" indent="-325755" algn="just">
              <a:lnSpc>
                <a:spcPts val="86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PS Category- Software</a:t>
            </a:r>
            <a:endParaRPr lang="en-US" sz="3600" b="1">
              <a:solidFill>
                <a:srgbClr val="0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651510" lvl="1" indent="-325755" algn="just">
              <a:lnSpc>
                <a:spcPts val="86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Team ID-  PSV-X17</a:t>
            </a:r>
            <a:endParaRPr lang="en-US" sz="3600" b="1">
              <a:solidFill>
                <a:srgbClr val="0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651510" lvl="1" indent="-325755" algn="just">
              <a:lnSpc>
                <a:spcPts val="86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Team Name-  Nexora</a:t>
            </a:r>
            <a:endParaRPr lang="en-US" sz="3600" b="1">
              <a:solidFill>
                <a:srgbClr val="0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651510" lvl="1" indent="-325755" algn="just">
              <a:lnSpc>
                <a:spcPts val="8640"/>
              </a:lnSpc>
              <a:buFont typeface="Arial" panose="020B0604020202020204"/>
              <a:buChar char="•"/>
            </a:pPr>
          </a:p>
        </p:txBody>
      </p:sp>
      <p:grpSp>
        <p:nvGrpSpPr>
          <p:cNvPr id="10" name="Group 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096000" y="4076700"/>
            <a:ext cx="2657475" cy="8515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965"/>
              </a:lnSpc>
            </a:pPr>
            <a:r>
              <a:rPr lang="en-US" sz="36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SIH26059</a:t>
            </a:r>
            <a:endParaRPr lang="en-US" sz="3600" b="1">
              <a:solidFill>
                <a:srgbClr val="0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ctr">
              <a:lnSpc>
                <a:spcPts val="4965"/>
              </a:lnSpc>
              <a:spcBef>
                <a:spcPct val="0"/>
              </a:spcBef>
            </a:pPr>
          </a:p>
        </p:txBody>
      </p:sp>
      <p:sp>
        <p:nvSpPr>
          <p:cNvPr id="13" name="TextBox 13"/>
          <p:cNvSpPr txBox="1"/>
          <p:nvPr/>
        </p:nvSpPr>
        <p:spPr>
          <a:xfrm>
            <a:off x="6196330" y="5165090"/>
            <a:ext cx="10392410" cy="10179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415"/>
              </a:lnSpc>
            </a:pPr>
            <a:r>
              <a:rPr lang="en-US" sz="32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AI-Enabled Antarctic Sea-</a:t>
            </a:r>
            <a:r>
              <a:rPr lang="en-IN" altLang="en-US" sz="32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 </a:t>
            </a:r>
            <a:r>
              <a:rPr lang="en-US" sz="3200" b="1">
                <a:solidFill>
                  <a:srgbClr val="000000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Ice,Iceberg Trajectory, and Navigation Decision Support System</a:t>
            </a:r>
            <a:endParaRPr lang="en-US" sz="3200" b="1">
              <a:solidFill>
                <a:srgbClr val="0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ctr">
              <a:lnSpc>
                <a:spcPts val="44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93944" y="1050579"/>
            <a:ext cx="12344400" cy="466725"/>
            <a:chOff x="0" y="0"/>
            <a:chExt cx="16459200" cy="622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622300"/>
            </a:xfrm>
            <a:custGeom>
              <a:avLst/>
              <a:gdLst/>
              <a:ahLst/>
              <a:cxnLst/>
              <a:rect l="l" t="t" r="r" b="b"/>
              <a:pathLst>
                <a:path w="16459200" h="622300">
                  <a:moveTo>
                    <a:pt x="0" y="0"/>
                  </a:moveTo>
                  <a:lnTo>
                    <a:pt x="16459200" y="0"/>
                  </a:lnTo>
                  <a:lnTo>
                    <a:pt x="16459200" y="622300"/>
                  </a:lnTo>
                  <a:lnTo>
                    <a:pt x="0" y="62230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456583" b="-47413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459200" cy="679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i="1">
                  <a:solidFill>
                    <a:srgbClr val="1C7293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AI-Powered Iceberg &amp; Sea-Ice Trajectory Prediction Platform</a:t>
              </a:r>
              <a:endParaRPr lang="en-US" sz="2250" i="1">
                <a:solidFill>
                  <a:srgbClr val="1C7293"/>
                </a:solidFill>
                <a:latin typeface="Calibri (MS) Italics" panose="020F05020202040A0204"/>
                <a:ea typeface="Calibri (MS) Italics" panose="020F05020202040A0204"/>
                <a:cs typeface="Calibri (MS) Italics" panose="020F05020202040A0204"/>
                <a:sym typeface="Calibri (MS) Italics" panose="020F05020202040A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4498" y="1593504"/>
            <a:ext cx="16637508" cy="850392"/>
            <a:chOff x="0" y="0"/>
            <a:chExt cx="22183344" cy="11338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037039" y="0"/>
                  </a:lnTo>
                  <a:cubicBezTo>
                    <a:pt x="22117811" y="0"/>
                    <a:pt x="22183344" y="65532"/>
                    <a:pt x="22183344" y="146304"/>
                  </a:cubicBezTo>
                  <a:lnTo>
                    <a:pt x="22183344" y="987552"/>
                  </a:lnTo>
                  <a:cubicBezTo>
                    <a:pt x="22183344" y="1068324"/>
                    <a:pt x="22117811" y="1133856"/>
                    <a:pt x="22037039" y="1133856"/>
                  </a:cubicBezTo>
                  <a:lnTo>
                    <a:pt x="146304" y="1133856"/>
                  </a:lnTo>
                  <a:cubicBezTo>
                    <a:pt x="65532" y="1133856"/>
                    <a:pt x="0" y="1068324"/>
                    <a:pt x="0" y="987552"/>
                  </a:cubicBezTo>
                  <a:close/>
                </a:path>
              </a:pathLst>
            </a:custGeom>
            <a:solidFill>
              <a:srgbClr val="EAF4F8"/>
            </a:solidFill>
          </p:spPr>
        </p:sp>
      </p:grpSp>
      <p:grpSp>
        <p:nvGrpSpPr>
          <p:cNvPr id="7" name="Group 7"/>
          <p:cNvGrpSpPr/>
          <p:nvPr/>
        </p:nvGrpSpPr>
        <p:grpSpPr>
          <a:xfrm rot="0">
            <a:off x="514619" y="1605820"/>
            <a:ext cx="15910560" cy="850392"/>
            <a:chOff x="0" y="0"/>
            <a:chExt cx="21214080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14080" cy="1133856"/>
            </a:xfrm>
            <a:custGeom>
              <a:avLst/>
              <a:gdLst/>
              <a:ahLst/>
              <a:cxnLst/>
              <a:rect l="l" t="t" r="r" b="b"/>
              <a:pathLst>
                <a:path w="21214080" h="1133856">
                  <a:moveTo>
                    <a:pt x="0" y="0"/>
                  </a:moveTo>
                  <a:lnTo>
                    <a:pt x="21214080" y="0"/>
                  </a:lnTo>
                  <a:lnTo>
                    <a:pt x="212140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14558" b="-31455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214080" cy="1143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21295C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NOVELTY:  </a:t>
              </a:r>
              <a:r>
                <a:rPr lang="en-US" sz="2175">
                  <a:solidFill>
                    <a:srgbClr val="3A3A3A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AI-powered real-time iceberg trajectory prediction, fused from satellite, buoy, and weather data, for smarter and safer polar navigation.</a:t>
              </a:r>
              <a:endParaRPr lang="en-US" sz="2175">
                <a:solidFill>
                  <a:srgbClr val="3A3A3A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260318" y="2560987"/>
            <a:ext cx="16651796" cy="1001840"/>
            <a:chOff x="0" y="0"/>
            <a:chExt cx="22202394" cy="13357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02394" cy="1335786"/>
            </a:xfrm>
            <a:custGeom>
              <a:avLst/>
              <a:gdLst/>
              <a:ahLst/>
              <a:cxnLst/>
              <a:rect l="l" t="t" r="r" b="b"/>
              <a:pathLst>
                <a:path w="22202394" h="1335786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22072473" y="0"/>
                  </a:lnTo>
                  <a:cubicBezTo>
                    <a:pt x="22144228" y="0"/>
                    <a:pt x="22202394" y="58166"/>
                    <a:pt x="22202394" y="129921"/>
                  </a:cubicBezTo>
                  <a:lnTo>
                    <a:pt x="22202394" y="1205865"/>
                  </a:lnTo>
                  <a:cubicBezTo>
                    <a:pt x="22202394" y="1277620"/>
                    <a:pt x="22144228" y="1335786"/>
                    <a:pt x="22072473" y="1335786"/>
                  </a:cubicBezTo>
                  <a:lnTo>
                    <a:pt x="129921" y="1335786"/>
                  </a:lnTo>
                  <a:cubicBezTo>
                    <a:pt x="58166" y="1335786"/>
                    <a:pt x="0" y="1277620"/>
                    <a:pt x="0" y="120586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504196" y="2710505"/>
            <a:ext cx="795528" cy="795528"/>
            <a:chOff x="0" y="0"/>
            <a:chExt cx="1060704" cy="10607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0704" cy="1060704"/>
            </a:xfrm>
            <a:custGeom>
              <a:avLst/>
              <a:gdLst/>
              <a:ahLst/>
              <a:cxnLst/>
              <a:rect l="l" t="t" r="r" b="b"/>
              <a:pathLst>
                <a:path w="1060704" h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764805" y="2940987"/>
            <a:ext cx="445494" cy="445494"/>
            <a:chOff x="0" y="0"/>
            <a:chExt cx="593992" cy="593992"/>
          </a:xfrm>
        </p:grpSpPr>
        <p:sp>
          <p:nvSpPr>
            <p:cNvPr id="15" name="Freeform 15" descr="/home/claude/icons/what.png"/>
            <p:cNvSpPr/>
            <p:nvPr/>
          </p:nvSpPr>
          <p:spPr>
            <a:xfrm>
              <a:off x="0" y="0"/>
              <a:ext cx="593979" cy="593979"/>
            </a:xfrm>
            <a:custGeom>
              <a:avLst/>
              <a:gdLst/>
              <a:ahLst/>
              <a:cxnLst/>
              <a:rect l="l" t="t" r="r" b="b"/>
              <a:pathLst>
                <a:path w="593979" h="593979">
                  <a:moveTo>
                    <a:pt x="0" y="0"/>
                  </a:moveTo>
                  <a:lnTo>
                    <a:pt x="593979" y="0"/>
                  </a:lnTo>
                  <a:lnTo>
                    <a:pt x="593979" y="593979"/>
                  </a:lnTo>
                  <a:lnTo>
                    <a:pt x="0" y="593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-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2249424" y="2710505"/>
            <a:ext cx="2057400" cy="987552"/>
            <a:chOff x="0" y="0"/>
            <a:chExt cx="2743200" cy="13167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43200" cy="1316736"/>
            </a:xfrm>
            <a:custGeom>
              <a:avLst/>
              <a:gdLst/>
              <a:ahLst/>
              <a:cxnLst/>
              <a:rect l="l" t="t" r="r" b="b"/>
              <a:pathLst>
                <a:path w="2743200" h="1316736">
                  <a:moveTo>
                    <a:pt x="0" y="0"/>
                  </a:moveTo>
                  <a:lnTo>
                    <a:pt x="2743200" y="0"/>
                  </a:lnTo>
                  <a:lnTo>
                    <a:pt x="2743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743200" cy="1373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65A82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WHAT</a:t>
              </a:r>
              <a:endParaRPr lang="en-US" sz="2250" b="1">
                <a:solidFill>
                  <a:srgbClr val="065A82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4056126" y="2820233"/>
            <a:ext cx="12755880" cy="877824"/>
            <a:chOff x="0" y="0"/>
            <a:chExt cx="17007840" cy="11704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007839" cy="1170432"/>
            </a:xfrm>
            <a:custGeom>
              <a:avLst/>
              <a:gdLst/>
              <a:ahLst/>
              <a:cxnLst/>
              <a:rect l="l" t="t" r="r" b="b"/>
              <a:pathLst>
                <a:path w="17007839" h="1170432">
                  <a:moveTo>
                    <a:pt x="0" y="0"/>
                  </a:moveTo>
                  <a:lnTo>
                    <a:pt x="17007839" y="0"/>
                  </a:lnTo>
                  <a:lnTo>
                    <a:pt x="170078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33141" b="-23314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1700784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20"/>
                </a:lnSpc>
              </a:pPr>
              <a:r>
                <a:rPr lang="en-US" sz="1850">
                  <a:solidFill>
                    <a:srgbClr val="3A3A3A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A platform that predicts iceberg and sea-ice drift trajectories in real time by fusing satellite, buoy, and weather data.</a:t>
              </a:r>
              <a:endParaRPr lang="en-US" sz="1850">
                <a:solidFill>
                  <a:srgbClr val="3A3A3A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273748" y="3816325"/>
            <a:ext cx="16651796" cy="1001840"/>
            <a:chOff x="0" y="0"/>
            <a:chExt cx="22202394" cy="1335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202394" cy="1335786"/>
            </a:xfrm>
            <a:custGeom>
              <a:avLst/>
              <a:gdLst/>
              <a:ahLst/>
              <a:cxnLst/>
              <a:rect l="l" t="t" r="r" b="b"/>
              <a:pathLst>
                <a:path w="22202394" h="1335786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22072473" y="0"/>
                  </a:lnTo>
                  <a:cubicBezTo>
                    <a:pt x="22144228" y="0"/>
                    <a:pt x="22202394" y="58166"/>
                    <a:pt x="22202394" y="129921"/>
                  </a:cubicBezTo>
                  <a:lnTo>
                    <a:pt x="22202394" y="1205865"/>
                  </a:lnTo>
                  <a:cubicBezTo>
                    <a:pt x="22202394" y="1277620"/>
                    <a:pt x="22144228" y="1335786"/>
                    <a:pt x="22072473" y="1335786"/>
                  </a:cubicBezTo>
                  <a:lnTo>
                    <a:pt x="129921" y="1335786"/>
                  </a:lnTo>
                  <a:cubicBezTo>
                    <a:pt x="58166" y="1335786"/>
                    <a:pt x="0" y="1277620"/>
                    <a:pt x="0" y="1205865"/>
                  </a:cubicBezTo>
                  <a:close/>
                </a:path>
              </a:pathLst>
            </a:custGeom>
            <a:solidFill>
              <a:srgbClr val="F6F8FA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 rot="0">
            <a:off x="504196" y="3924776"/>
            <a:ext cx="795528" cy="795528"/>
            <a:chOff x="0" y="0"/>
            <a:chExt cx="1060704" cy="10607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60704" cy="1060704"/>
            </a:xfrm>
            <a:custGeom>
              <a:avLst/>
              <a:gdLst/>
              <a:ahLst/>
              <a:cxnLst/>
              <a:rect l="l" t="t" r="r" b="b"/>
              <a:pathLst>
                <a:path w="1060704" h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679211" y="4094497"/>
            <a:ext cx="445499" cy="445499"/>
            <a:chOff x="0" y="0"/>
            <a:chExt cx="593992" cy="593992"/>
          </a:xfrm>
        </p:grpSpPr>
        <p:sp>
          <p:nvSpPr>
            <p:cNvPr id="27" name="Freeform 27" descr="/home/claude/icons/who.png"/>
            <p:cNvSpPr/>
            <p:nvPr/>
          </p:nvSpPr>
          <p:spPr>
            <a:xfrm>
              <a:off x="0" y="0"/>
              <a:ext cx="593979" cy="593979"/>
            </a:xfrm>
            <a:custGeom>
              <a:avLst/>
              <a:gdLst/>
              <a:ahLst/>
              <a:cxnLst/>
              <a:rect l="l" t="t" r="r" b="b"/>
              <a:pathLst>
                <a:path w="593979" h="593979">
                  <a:moveTo>
                    <a:pt x="0" y="0"/>
                  </a:moveTo>
                  <a:lnTo>
                    <a:pt x="593979" y="0"/>
                  </a:lnTo>
                  <a:lnTo>
                    <a:pt x="593979" y="593979"/>
                  </a:lnTo>
                  <a:lnTo>
                    <a:pt x="0" y="593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 b="-2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 rot="0">
            <a:off x="2249424" y="3924776"/>
            <a:ext cx="2057400" cy="987552"/>
            <a:chOff x="0" y="0"/>
            <a:chExt cx="2743200" cy="131673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743200" cy="1316736"/>
            </a:xfrm>
            <a:custGeom>
              <a:avLst/>
              <a:gdLst/>
              <a:ahLst/>
              <a:cxnLst/>
              <a:rect l="l" t="t" r="r" b="b"/>
              <a:pathLst>
                <a:path w="2743200" h="1316736">
                  <a:moveTo>
                    <a:pt x="0" y="0"/>
                  </a:moveTo>
                  <a:lnTo>
                    <a:pt x="2743200" y="0"/>
                  </a:lnTo>
                  <a:lnTo>
                    <a:pt x="2743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2743200" cy="1373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C7293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WHO</a:t>
              </a:r>
              <a:endParaRPr lang="en-US" sz="2250" b="1">
                <a:solidFill>
                  <a:srgbClr val="1C7293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4056126" y="4060007"/>
            <a:ext cx="12755880" cy="877824"/>
            <a:chOff x="0" y="0"/>
            <a:chExt cx="17007840" cy="117043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7007839" cy="1170432"/>
            </a:xfrm>
            <a:custGeom>
              <a:avLst/>
              <a:gdLst/>
              <a:ahLst/>
              <a:cxnLst/>
              <a:rect l="l" t="t" r="r" b="b"/>
              <a:pathLst>
                <a:path w="17007839" h="1170432">
                  <a:moveTo>
                    <a:pt x="0" y="0"/>
                  </a:moveTo>
                  <a:lnTo>
                    <a:pt x="17007839" y="0"/>
                  </a:lnTo>
                  <a:lnTo>
                    <a:pt x="170078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33141" b="-233141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700784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20"/>
                </a:lnSpc>
              </a:pPr>
              <a:r>
                <a:rPr lang="en-US" sz="1850">
                  <a:solidFill>
                    <a:srgbClr val="3A3A3A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Vessel navigation officers and polar research teams routing ships through ice-prone Antarctic-to-Arctic waters.</a:t>
              </a:r>
              <a:endParaRPr lang="en-US" sz="1850">
                <a:solidFill>
                  <a:srgbClr val="3A3A3A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0">
            <a:off x="273748" y="5136356"/>
            <a:ext cx="16651796" cy="1001840"/>
            <a:chOff x="0" y="0"/>
            <a:chExt cx="22202394" cy="133578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202394" cy="1335786"/>
            </a:xfrm>
            <a:custGeom>
              <a:avLst/>
              <a:gdLst/>
              <a:ahLst/>
              <a:cxnLst/>
              <a:rect l="l" t="t" r="r" b="b"/>
              <a:pathLst>
                <a:path w="22202394" h="1335786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22072473" y="0"/>
                  </a:lnTo>
                  <a:cubicBezTo>
                    <a:pt x="22144228" y="0"/>
                    <a:pt x="22202394" y="58166"/>
                    <a:pt x="22202394" y="129921"/>
                  </a:cubicBezTo>
                  <a:lnTo>
                    <a:pt x="22202394" y="1205865"/>
                  </a:lnTo>
                  <a:cubicBezTo>
                    <a:pt x="22202394" y="1277620"/>
                    <a:pt x="22144228" y="1335786"/>
                    <a:pt x="22072473" y="1335786"/>
                  </a:cubicBezTo>
                  <a:lnTo>
                    <a:pt x="129921" y="1335786"/>
                  </a:lnTo>
                  <a:cubicBezTo>
                    <a:pt x="58166" y="1335786"/>
                    <a:pt x="0" y="1277620"/>
                    <a:pt x="0" y="120586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 rot="0">
            <a:off x="504196" y="5276183"/>
            <a:ext cx="795528" cy="795528"/>
            <a:chOff x="0" y="0"/>
            <a:chExt cx="1060704" cy="106070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60704" cy="1060704"/>
            </a:xfrm>
            <a:custGeom>
              <a:avLst/>
              <a:gdLst/>
              <a:ahLst/>
              <a:cxnLst/>
              <a:rect l="l" t="t" r="r" b="b"/>
              <a:pathLst>
                <a:path w="1060704" h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38" name="Group 38"/>
          <p:cNvGrpSpPr/>
          <p:nvPr/>
        </p:nvGrpSpPr>
        <p:grpSpPr>
          <a:xfrm rot="0">
            <a:off x="651786" y="5451200"/>
            <a:ext cx="445494" cy="445494"/>
            <a:chOff x="0" y="0"/>
            <a:chExt cx="593992" cy="593992"/>
          </a:xfrm>
        </p:grpSpPr>
        <p:sp>
          <p:nvSpPr>
            <p:cNvPr id="39" name="Freeform 39" descr="/home/claude/icons/why.png"/>
            <p:cNvSpPr/>
            <p:nvPr/>
          </p:nvSpPr>
          <p:spPr>
            <a:xfrm>
              <a:off x="0" y="0"/>
              <a:ext cx="593979" cy="593979"/>
            </a:xfrm>
            <a:custGeom>
              <a:avLst/>
              <a:gdLst/>
              <a:ahLst/>
              <a:cxnLst/>
              <a:rect l="l" t="t" r="r" b="b"/>
              <a:pathLst>
                <a:path w="593979" h="593979">
                  <a:moveTo>
                    <a:pt x="0" y="0"/>
                  </a:moveTo>
                  <a:lnTo>
                    <a:pt x="593979" y="0"/>
                  </a:lnTo>
                  <a:lnTo>
                    <a:pt x="593979" y="593979"/>
                  </a:lnTo>
                  <a:lnTo>
                    <a:pt x="0" y="593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2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 rot="0">
            <a:off x="2249424" y="5143500"/>
            <a:ext cx="2057400" cy="987552"/>
            <a:chOff x="0" y="0"/>
            <a:chExt cx="2743200" cy="131673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743200" cy="1316736"/>
            </a:xfrm>
            <a:custGeom>
              <a:avLst/>
              <a:gdLst/>
              <a:ahLst/>
              <a:cxnLst/>
              <a:rect l="l" t="t" r="r" b="b"/>
              <a:pathLst>
                <a:path w="2743200" h="1316736">
                  <a:moveTo>
                    <a:pt x="0" y="0"/>
                  </a:moveTo>
                  <a:lnTo>
                    <a:pt x="2743200" y="0"/>
                  </a:lnTo>
                  <a:lnTo>
                    <a:pt x="2743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2743200" cy="1373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21295C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WHY</a:t>
              </a:r>
              <a:endParaRPr lang="en-US" sz="2250" b="1">
                <a:solidFill>
                  <a:srgbClr val="21295C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 rot="0">
            <a:off x="4056126" y="5251037"/>
            <a:ext cx="12755880" cy="877824"/>
            <a:chOff x="0" y="0"/>
            <a:chExt cx="17007840" cy="117043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7007839" cy="1170432"/>
            </a:xfrm>
            <a:custGeom>
              <a:avLst/>
              <a:gdLst/>
              <a:ahLst/>
              <a:cxnLst/>
              <a:rect l="l" t="t" r="r" b="b"/>
              <a:pathLst>
                <a:path w="17007839" h="1170432">
                  <a:moveTo>
                    <a:pt x="0" y="0"/>
                  </a:moveTo>
                  <a:lnTo>
                    <a:pt x="17007839" y="0"/>
                  </a:lnTo>
                  <a:lnTo>
                    <a:pt x="170078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33141" b="-233141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1700784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20"/>
                </a:lnSpc>
              </a:pPr>
              <a:r>
                <a:rPr lang="en-US" sz="1850">
                  <a:solidFill>
                    <a:srgbClr val="3A3A3A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Iceberg data today is scattered across separate satellite, buoy, and weather feeds with no shared reference — officers must manually cross-check sources, delaying decisions and raising collision risk.</a:t>
              </a:r>
              <a:endParaRPr lang="en-US" sz="1850">
                <a:solidFill>
                  <a:srgbClr val="3A3A3A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 rot="0">
            <a:off x="260318" y="6338221"/>
            <a:ext cx="16651796" cy="1001840"/>
            <a:chOff x="0" y="0"/>
            <a:chExt cx="22202394" cy="133578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202394" cy="1335786"/>
            </a:xfrm>
            <a:custGeom>
              <a:avLst/>
              <a:gdLst/>
              <a:ahLst/>
              <a:cxnLst/>
              <a:rect l="l" t="t" r="r" b="b"/>
              <a:pathLst>
                <a:path w="22202394" h="1335786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22072473" y="0"/>
                  </a:lnTo>
                  <a:cubicBezTo>
                    <a:pt x="22144228" y="0"/>
                    <a:pt x="22202394" y="58166"/>
                    <a:pt x="22202394" y="129921"/>
                  </a:cubicBezTo>
                  <a:lnTo>
                    <a:pt x="22202394" y="1205865"/>
                  </a:lnTo>
                  <a:cubicBezTo>
                    <a:pt x="22202394" y="1277620"/>
                    <a:pt x="22144228" y="1335786"/>
                    <a:pt x="22072473" y="1335786"/>
                  </a:cubicBezTo>
                  <a:lnTo>
                    <a:pt x="129921" y="1335786"/>
                  </a:lnTo>
                  <a:cubicBezTo>
                    <a:pt x="58166" y="1335786"/>
                    <a:pt x="0" y="1277620"/>
                    <a:pt x="0" y="1205865"/>
                  </a:cubicBezTo>
                  <a:close/>
                </a:path>
              </a:pathLst>
            </a:custGeom>
            <a:solidFill>
              <a:srgbClr val="F6F8FA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 rot="0">
            <a:off x="466344" y="6481096"/>
            <a:ext cx="795528" cy="795528"/>
            <a:chOff x="0" y="0"/>
            <a:chExt cx="1060704" cy="106070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60704" cy="1060704"/>
            </a:xfrm>
            <a:custGeom>
              <a:avLst/>
              <a:gdLst/>
              <a:ahLst/>
              <a:cxnLst/>
              <a:rect l="l" t="t" r="r" b="b"/>
              <a:pathLst>
                <a:path w="1060704" h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id="50" name="Group 50"/>
          <p:cNvGrpSpPr/>
          <p:nvPr/>
        </p:nvGrpSpPr>
        <p:grpSpPr>
          <a:xfrm rot="0">
            <a:off x="679218" y="6616394"/>
            <a:ext cx="445494" cy="445494"/>
            <a:chOff x="0" y="0"/>
            <a:chExt cx="593992" cy="593992"/>
          </a:xfrm>
        </p:grpSpPr>
        <p:sp>
          <p:nvSpPr>
            <p:cNvPr id="51" name="Freeform 51" descr="/home/claude/icons/how.png"/>
            <p:cNvSpPr/>
            <p:nvPr/>
          </p:nvSpPr>
          <p:spPr>
            <a:xfrm>
              <a:off x="0" y="0"/>
              <a:ext cx="593979" cy="593979"/>
            </a:xfrm>
            <a:custGeom>
              <a:avLst/>
              <a:gdLst/>
              <a:ahLst/>
              <a:cxnLst/>
              <a:rect l="l" t="t" r="r" b="b"/>
              <a:pathLst>
                <a:path w="593979" h="593979">
                  <a:moveTo>
                    <a:pt x="0" y="0"/>
                  </a:moveTo>
                  <a:lnTo>
                    <a:pt x="593979" y="0"/>
                  </a:lnTo>
                  <a:lnTo>
                    <a:pt x="593979" y="593979"/>
                  </a:lnTo>
                  <a:lnTo>
                    <a:pt x="0" y="593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 rot="0">
            <a:off x="2263140" y="6240780"/>
            <a:ext cx="2057400" cy="987552"/>
            <a:chOff x="0" y="0"/>
            <a:chExt cx="2743200" cy="131673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743200" cy="1316736"/>
            </a:xfrm>
            <a:custGeom>
              <a:avLst/>
              <a:gdLst/>
              <a:ahLst/>
              <a:cxnLst/>
              <a:rect l="l" t="t" r="r" b="b"/>
              <a:pathLst>
                <a:path w="2743200" h="1316736">
                  <a:moveTo>
                    <a:pt x="0" y="0"/>
                  </a:moveTo>
                  <a:lnTo>
                    <a:pt x="2743200" y="0"/>
                  </a:lnTo>
                  <a:lnTo>
                    <a:pt x="2743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57150"/>
              <a:ext cx="2743200" cy="1373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E8871E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HOW</a:t>
              </a:r>
              <a:endParaRPr lang="en-US" sz="2250" b="1">
                <a:solidFill>
                  <a:srgbClr val="E8871E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 rot="0">
            <a:off x="4056126" y="6401277"/>
            <a:ext cx="12755880" cy="955166"/>
            <a:chOff x="0" y="0"/>
            <a:chExt cx="17007840" cy="127355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7007839" cy="1273555"/>
            </a:xfrm>
            <a:custGeom>
              <a:avLst/>
              <a:gdLst/>
              <a:ahLst/>
              <a:cxnLst/>
              <a:rect l="l" t="t" r="r" b="b"/>
              <a:pathLst>
                <a:path w="17007839" h="1273555">
                  <a:moveTo>
                    <a:pt x="0" y="0"/>
                  </a:moveTo>
                  <a:lnTo>
                    <a:pt x="17007839" y="0"/>
                  </a:lnTo>
                  <a:lnTo>
                    <a:pt x="17007839" y="1273555"/>
                  </a:lnTo>
                  <a:lnTo>
                    <a:pt x="0" y="1273555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14263" b="-206166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17007840" cy="1273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20"/>
                </a:lnSpc>
              </a:pPr>
              <a:r>
                <a:rPr lang="en-US" sz="1850">
                  <a:solidFill>
                    <a:srgbClr val="3A3A3A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Input: satellite, buoy, and weather data  →  Process: AI trajectory-prediction engine assigns each berg a persistent Unique ID (size, drift history, hazard class)  →  Output: role-based dashboards with proximity, routing, and collision-risk alerts.</a:t>
              </a:r>
              <a:endParaRPr lang="en-US" sz="1850">
                <a:solidFill>
                  <a:srgbClr val="3A3A3A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 rot="0">
            <a:off x="260318" y="7527893"/>
            <a:ext cx="16651796" cy="1001840"/>
            <a:chOff x="0" y="0"/>
            <a:chExt cx="22202394" cy="133578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2202394" cy="1335786"/>
            </a:xfrm>
            <a:custGeom>
              <a:avLst/>
              <a:gdLst/>
              <a:ahLst/>
              <a:cxnLst/>
              <a:rect l="l" t="t" r="r" b="b"/>
              <a:pathLst>
                <a:path w="22202394" h="1335786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22072473" y="0"/>
                  </a:lnTo>
                  <a:cubicBezTo>
                    <a:pt x="22144228" y="0"/>
                    <a:pt x="22202394" y="58166"/>
                    <a:pt x="22202394" y="129921"/>
                  </a:cubicBezTo>
                  <a:lnTo>
                    <a:pt x="22202394" y="1205865"/>
                  </a:lnTo>
                  <a:cubicBezTo>
                    <a:pt x="22202394" y="1277620"/>
                    <a:pt x="22144228" y="1335786"/>
                    <a:pt x="22072473" y="1335786"/>
                  </a:cubicBezTo>
                  <a:lnTo>
                    <a:pt x="129921" y="1335786"/>
                  </a:lnTo>
                  <a:cubicBezTo>
                    <a:pt x="58166" y="1335786"/>
                    <a:pt x="0" y="1277620"/>
                    <a:pt x="0" y="120586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 rot="0">
            <a:off x="466344" y="7540085"/>
            <a:ext cx="795528" cy="795528"/>
            <a:chOff x="0" y="0"/>
            <a:chExt cx="1060704" cy="106070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60704" cy="1060704"/>
            </a:xfrm>
            <a:custGeom>
              <a:avLst/>
              <a:gdLst/>
              <a:ahLst/>
              <a:cxnLst/>
              <a:rect l="l" t="t" r="r" b="b"/>
              <a:pathLst>
                <a:path w="1060704" h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C1121F"/>
            </a:solidFill>
          </p:spPr>
        </p:sp>
      </p:grpSp>
      <p:grpSp>
        <p:nvGrpSpPr>
          <p:cNvPr id="62" name="Group 62"/>
          <p:cNvGrpSpPr/>
          <p:nvPr/>
        </p:nvGrpSpPr>
        <p:grpSpPr>
          <a:xfrm rot="0">
            <a:off x="600213" y="7797260"/>
            <a:ext cx="445494" cy="445494"/>
            <a:chOff x="0" y="0"/>
            <a:chExt cx="593992" cy="593992"/>
          </a:xfrm>
        </p:grpSpPr>
        <p:sp>
          <p:nvSpPr>
            <p:cNvPr id="63" name="Freeform 63" descr="/home/claude/icons/new.png"/>
            <p:cNvSpPr/>
            <p:nvPr/>
          </p:nvSpPr>
          <p:spPr>
            <a:xfrm>
              <a:off x="0" y="0"/>
              <a:ext cx="593979" cy="593979"/>
            </a:xfrm>
            <a:custGeom>
              <a:avLst/>
              <a:gdLst/>
              <a:ahLst/>
              <a:cxnLst/>
              <a:rect l="l" t="t" r="r" b="b"/>
              <a:pathLst>
                <a:path w="593979" h="593979">
                  <a:moveTo>
                    <a:pt x="0" y="0"/>
                  </a:moveTo>
                  <a:lnTo>
                    <a:pt x="593979" y="0"/>
                  </a:lnTo>
                  <a:lnTo>
                    <a:pt x="593979" y="593979"/>
                  </a:lnTo>
                  <a:lnTo>
                    <a:pt x="0" y="593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" b="-2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 rot="0">
            <a:off x="1998726" y="7444073"/>
            <a:ext cx="2057400" cy="987552"/>
            <a:chOff x="0" y="0"/>
            <a:chExt cx="2743200" cy="131673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743200" cy="1316736"/>
            </a:xfrm>
            <a:custGeom>
              <a:avLst/>
              <a:gdLst/>
              <a:ahLst/>
              <a:cxnLst/>
              <a:rect l="l" t="t" r="r" b="b"/>
              <a:pathLst>
                <a:path w="2743200" h="1316736">
                  <a:moveTo>
                    <a:pt x="0" y="0"/>
                  </a:moveTo>
                  <a:lnTo>
                    <a:pt x="2743200" y="0"/>
                  </a:lnTo>
                  <a:lnTo>
                    <a:pt x="2743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11585" r="-11585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57150"/>
              <a:ext cx="2743200" cy="13738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1121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WHAT'S</a:t>
              </a:r>
              <a:endParaRPr lang="en-US" sz="2250" b="1">
                <a:solidFill>
                  <a:srgbClr val="C1121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1121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NEW</a:t>
              </a:r>
              <a:endParaRPr lang="en-US" sz="2250" b="1">
                <a:solidFill>
                  <a:srgbClr val="C1121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 rot="0">
            <a:off x="4056126" y="7494080"/>
            <a:ext cx="12755880" cy="877824"/>
            <a:chOff x="0" y="0"/>
            <a:chExt cx="17007840" cy="117043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7007839" cy="1170432"/>
            </a:xfrm>
            <a:custGeom>
              <a:avLst/>
              <a:gdLst/>
              <a:ahLst/>
              <a:cxnLst/>
              <a:rect l="l" t="t" r="r" b="b"/>
              <a:pathLst>
                <a:path w="17007839" h="1170432">
                  <a:moveTo>
                    <a:pt x="0" y="0"/>
                  </a:moveTo>
                  <a:lnTo>
                    <a:pt x="17007839" y="0"/>
                  </a:lnTo>
                  <a:lnTo>
                    <a:pt x="170078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33141" b="-233141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17007840" cy="11704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20"/>
                </a:lnSpc>
              </a:pPr>
              <a:r>
                <a:rPr lang="en-US" sz="1850">
                  <a:solidFill>
                    <a:srgbClr val="3A3A3A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Unlike existing tools that give static, periodic snapshots, Unique Iceberg ID persists across every module and drives predictive — not just observed — real-time trajectories with automated collision alerts.</a:t>
              </a:r>
              <a:endParaRPr lang="en-US" sz="1850">
                <a:solidFill>
                  <a:srgbClr val="3A3A3A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 rot="0">
            <a:off x="148590" y="8602122"/>
            <a:ext cx="3593592" cy="822960"/>
            <a:chOff x="0" y="0"/>
            <a:chExt cx="4791456" cy="109728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791456" cy="1097280"/>
            </a:xfrm>
            <a:custGeom>
              <a:avLst/>
              <a:gdLst/>
              <a:ahLst/>
              <a:cxnLst/>
              <a:rect l="l" t="t" r="r" b="b"/>
              <a:pathLst>
                <a:path w="4791456" h="1097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45152" y="0"/>
                  </a:lnTo>
                  <a:cubicBezTo>
                    <a:pt x="4725924" y="0"/>
                    <a:pt x="4791456" y="65532"/>
                    <a:pt x="4791456" y="146304"/>
                  </a:cubicBezTo>
                  <a:lnTo>
                    <a:pt x="4791456" y="950976"/>
                  </a:lnTo>
                  <a:cubicBezTo>
                    <a:pt x="4791456" y="1031748"/>
                    <a:pt x="4725924" y="1097280"/>
                    <a:pt x="4645152" y="1097280"/>
                  </a:cubicBezTo>
                  <a:lnTo>
                    <a:pt x="146304" y="1097280"/>
                  </a:lnTo>
                  <a:cubicBezTo>
                    <a:pt x="65532" y="1097280"/>
                    <a:pt x="0" y="1031748"/>
                    <a:pt x="0" y="95097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72" name="Group 72"/>
          <p:cNvGrpSpPr/>
          <p:nvPr/>
        </p:nvGrpSpPr>
        <p:grpSpPr>
          <a:xfrm rot="0">
            <a:off x="315468" y="8777382"/>
            <a:ext cx="548640" cy="548640"/>
            <a:chOff x="0" y="0"/>
            <a:chExt cx="731520" cy="73152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4" name="Group 74"/>
          <p:cNvGrpSpPr/>
          <p:nvPr/>
        </p:nvGrpSpPr>
        <p:grpSpPr>
          <a:xfrm rot="0">
            <a:off x="425196" y="8927456"/>
            <a:ext cx="329184" cy="329184"/>
            <a:chOff x="0" y="0"/>
            <a:chExt cx="438912" cy="438912"/>
          </a:xfrm>
        </p:grpSpPr>
        <p:sp>
          <p:nvSpPr>
            <p:cNvPr id="75" name="Freeform 75" descr="/home/claude/icons/sat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 rot="0">
            <a:off x="1032510" y="8553813"/>
            <a:ext cx="2633472" cy="954250"/>
            <a:chOff x="0" y="0"/>
            <a:chExt cx="3511296" cy="127233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511296" cy="1272333"/>
            </a:xfrm>
            <a:custGeom>
              <a:avLst/>
              <a:gdLst/>
              <a:ahLst/>
              <a:cxnLst/>
              <a:rect l="l" t="t" r="r" b="b"/>
              <a:pathLst>
                <a:path w="3511296" h="1272333">
                  <a:moveTo>
                    <a:pt x="0" y="0"/>
                  </a:moveTo>
                  <a:lnTo>
                    <a:pt x="3511296" y="0"/>
                  </a:lnTo>
                  <a:lnTo>
                    <a:pt x="3511296" y="1272333"/>
                  </a:lnTo>
                  <a:lnTo>
                    <a:pt x="0" y="1272333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652" b="3105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3511296" cy="12723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70"/>
                </a:lnSpc>
              </a:pPr>
              <a:r>
                <a:rPr lang="en-US" sz="2225" b="1">
                  <a:solidFill>
                    <a:srgbClr val="FFFFFF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Satellite / Sensor</a:t>
              </a:r>
              <a:endParaRPr lang="en-US" sz="2225" b="1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  <a:p>
              <a:pPr algn="l">
                <a:lnSpc>
                  <a:spcPts val="2670"/>
                </a:lnSpc>
              </a:pPr>
              <a:r>
                <a:rPr lang="en-US" sz="2225" b="1">
                  <a:solidFill>
                    <a:srgbClr val="FFFFFF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Data Sources</a:t>
              </a:r>
              <a:endParaRPr lang="en-US" sz="2225" b="1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 rot="0">
            <a:off x="3818382" y="8704231"/>
            <a:ext cx="576072" cy="822960"/>
            <a:chOff x="0" y="0"/>
            <a:chExt cx="768096" cy="109728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68096" cy="1097280"/>
            </a:xfrm>
            <a:custGeom>
              <a:avLst/>
              <a:gdLst/>
              <a:ahLst/>
              <a:cxnLst/>
              <a:rect l="l" t="t" r="r" b="b"/>
              <a:pathLst>
                <a:path w="768096" h="1097280">
                  <a:moveTo>
                    <a:pt x="0" y="0"/>
                  </a:moveTo>
                  <a:lnTo>
                    <a:pt x="768096" y="0"/>
                  </a:lnTo>
                  <a:lnTo>
                    <a:pt x="76809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66675"/>
              <a:ext cx="768096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21295C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→</a:t>
              </a:r>
              <a:endParaRPr lang="en-US" sz="3000" b="1">
                <a:solidFill>
                  <a:srgbClr val="21295C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 rot="0">
            <a:off x="4306824" y="8619458"/>
            <a:ext cx="3593592" cy="822960"/>
            <a:chOff x="0" y="0"/>
            <a:chExt cx="4791456" cy="109728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791456" cy="1097280"/>
            </a:xfrm>
            <a:custGeom>
              <a:avLst/>
              <a:gdLst/>
              <a:ahLst/>
              <a:cxnLst/>
              <a:rect l="l" t="t" r="r" b="b"/>
              <a:pathLst>
                <a:path w="4791456" h="1097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45152" y="0"/>
                  </a:lnTo>
                  <a:cubicBezTo>
                    <a:pt x="4725924" y="0"/>
                    <a:pt x="4791456" y="65532"/>
                    <a:pt x="4791456" y="146304"/>
                  </a:cubicBezTo>
                  <a:lnTo>
                    <a:pt x="4791456" y="950976"/>
                  </a:lnTo>
                  <a:cubicBezTo>
                    <a:pt x="4791456" y="1031748"/>
                    <a:pt x="4725924" y="1097280"/>
                    <a:pt x="4645152" y="1097280"/>
                  </a:cubicBezTo>
                  <a:lnTo>
                    <a:pt x="146304" y="1097280"/>
                  </a:lnTo>
                  <a:cubicBezTo>
                    <a:pt x="65532" y="1097280"/>
                    <a:pt x="0" y="1031748"/>
                    <a:pt x="0" y="95097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84" name="Group 84"/>
          <p:cNvGrpSpPr/>
          <p:nvPr/>
        </p:nvGrpSpPr>
        <p:grpSpPr>
          <a:xfrm rot="0">
            <a:off x="4394454" y="8759475"/>
            <a:ext cx="548640" cy="548640"/>
            <a:chOff x="0" y="0"/>
            <a:chExt cx="731520" cy="73152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6" name="Group 86"/>
          <p:cNvGrpSpPr/>
          <p:nvPr/>
        </p:nvGrpSpPr>
        <p:grpSpPr>
          <a:xfrm rot="0">
            <a:off x="4504182" y="8869203"/>
            <a:ext cx="329184" cy="329184"/>
            <a:chOff x="0" y="0"/>
            <a:chExt cx="438912" cy="438912"/>
          </a:xfrm>
        </p:grpSpPr>
        <p:sp>
          <p:nvSpPr>
            <p:cNvPr id="87" name="Freeform 87" descr="/home/claude/icons/brain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88" name="Group 88"/>
          <p:cNvGrpSpPr/>
          <p:nvPr/>
        </p:nvGrpSpPr>
        <p:grpSpPr>
          <a:xfrm rot="0">
            <a:off x="5095494" y="8556670"/>
            <a:ext cx="2633472" cy="954250"/>
            <a:chOff x="0" y="0"/>
            <a:chExt cx="3511296" cy="1272333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511296" cy="1272333"/>
            </a:xfrm>
            <a:custGeom>
              <a:avLst/>
              <a:gdLst/>
              <a:ahLst/>
              <a:cxnLst/>
              <a:rect l="l" t="t" r="r" b="b"/>
              <a:pathLst>
                <a:path w="3511296" h="1272333">
                  <a:moveTo>
                    <a:pt x="0" y="0"/>
                  </a:moveTo>
                  <a:lnTo>
                    <a:pt x="3511296" y="0"/>
                  </a:lnTo>
                  <a:lnTo>
                    <a:pt x="3511296" y="1272333"/>
                  </a:lnTo>
                  <a:lnTo>
                    <a:pt x="0" y="1272333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652" b="3105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0"/>
              <a:ext cx="3511296" cy="12723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70"/>
                </a:lnSpc>
              </a:pPr>
              <a:r>
                <a:rPr lang="en-US" sz="2225" b="1">
                  <a:solidFill>
                    <a:srgbClr val="FFFFFF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AI Trajectory</a:t>
              </a:r>
              <a:endParaRPr lang="en-US" sz="2225" b="1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  <a:p>
              <a:pPr algn="l">
                <a:lnSpc>
                  <a:spcPts val="2670"/>
                </a:lnSpc>
              </a:pPr>
              <a:r>
                <a:rPr lang="en-US" sz="2225" b="1">
                  <a:solidFill>
                    <a:srgbClr val="FFFFFF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Prediction Engine</a:t>
              </a:r>
              <a:endParaRPr lang="en-US" sz="2225" b="1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 rot="0">
            <a:off x="8010144" y="8655551"/>
            <a:ext cx="576072" cy="822960"/>
            <a:chOff x="0" y="0"/>
            <a:chExt cx="768096" cy="109728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768096" cy="1097280"/>
            </a:xfrm>
            <a:custGeom>
              <a:avLst/>
              <a:gdLst/>
              <a:ahLst/>
              <a:cxnLst/>
              <a:rect l="l" t="t" r="r" b="b"/>
              <a:pathLst>
                <a:path w="768096" h="1097280">
                  <a:moveTo>
                    <a:pt x="0" y="0"/>
                  </a:moveTo>
                  <a:lnTo>
                    <a:pt x="768096" y="0"/>
                  </a:lnTo>
                  <a:lnTo>
                    <a:pt x="76809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66675"/>
              <a:ext cx="768096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21295C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→</a:t>
              </a:r>
              <a:endParaRPr lang="en-US" sz="3000" b="1">
                <a:solidFill>
                  <a:srgbClr val="21295C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 rot="0">
            <a:off x="8548116" y="8619458"/>
            <a:ext cx="3593592" cy="822960"/>
            <a:chOff x="0" y="0"/>
            <a:chExt cx="4791456" cy="109728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791456" cy="1097280"/>
            </a:xfrm>
            <a:custGeom>
              <a:avLst/>
              <a:gdLst/>
              <a:ahLst/>
              <a:cxnLst/>
              <a:rect l="l" t="t" r="r" b="b"/>
              <a:pathLst>
                <a:path w="4791456" h="1097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45152" y="0"/>
                  </a:lnTo>
                  <a:cubicBezTo>
                    <a:pt x="4725924" y="0"/>
                    <a:pt x="4791456" y="65532"/>
                    <a:pt x="4791456" y="146304"/>
                  </a:cubicBezTo>
                  <a:lnTo>
                    <a:pt x="4791456" y="950976"/>
                  </a:lnTo>
                  <a:cubicBezTo>
                    <a:pt x="4791456" y="1031748"/>
                    <a:pt x="4725924" y="1097280"/>
                    <a:pt x="4645152" y="1097280"/>
                  </a:cubicBezTo>
                  <a:lnTo>
                    <a:pt x="146304" y="1097280"/>
                  </a:lnTo>
                  <a:cubicBezTo>
                    <a:pt x="65532" y="1097280"/>
                    <a:pt x="0" y="1031748"/>
                    <a:pt x="0" y="95097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96" name="Group 96"/>
          <p:cNvGrpSpPr/>
          <p:nvPr/>
        </p:nvGrpSpPr>
        <p:grpSpPr>
          <a:xfrm rot="0">
            <a:off x="8630031" y="8759475"/>
            <a:ext cx="548640" cy="548640"/>
            <a:chOff x="0" y="0"/>
            <a:chExt cx="731520" cy="73152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8" name="Group 98"/>
          <p:cNvGrpSpPr/>
          <p:nvPr/>
        </p:nvGrpSpPr>
        <p:grpSpPr>
          <a:xfrm rot="0">
            <a:off x="8739759" y="8869203"/>
            <a:ext cx="329184" cy="329184"/>
            <a:chOff x="0" y="0"/>
            <a:chExt cx="438912" cy="438912"/>
          </a:xfrm>
        </p:grpSpPr>
        <p:sp>
          <p:nvSpPr>
            <p:cNvPr id="99" name="Freeform 99" descr="/home/claude/icons/plug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00" name="Group 100"/>
          <p:cNvGrpSpPr/>
          <p:nvPr/>
        </p:nvGrpSpPr>
        <p:grpSpPr>
          <a:xfrm rot="0">
            <a:off x="9380220" y="8589906"/>
            <a:ext cx="2633472" cy="954250"/>
            <a:chOff x="0" y="0"/>
            <a:chExt cx="3511296" cy="1272333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511296" cy="1272333"/>
            </a:xfrm>
            <a:custGeom>
              <a:avLst/>
              <a:gdLst/>
              <a:ahLst/>
              <a:cxnLst/>
              <a:rect l="l" t="t" r="r" b="b"/>
              <a:pathLst>
                <a:path w="3511296" h="1272333">
                  <a:moveTo>
                    <a:pt x="0" y="0"/>
                  </a:moveTo>
                  <a:lnTo>
                    <a:pt x="3511296" y="0"/>
                  </a:lnTo>
                  <a:lnTo>
                    <a:pt x="3511296" y="1272333"/>
                  </a:lnTo>
                  <a:lnTo>
                    <a:pt x="0" y="1272333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652" b="3105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0"/>
              <a:ext cx="3511296" cy="12723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70"/>
                </a:lnSpc>
              </a:pPr>
              <a:r>
                <a:rPr lang="en-US" sz="2225" b="1">
                  <a:solidFill>
                    <a:srgbClr val="FFFFFF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APIs &amp; Agency /</a:t>
              </a:r>
              <a:endParaRPr lang="en-US" sz="2225" b="1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  <a:p>
              <a:pPr algn="l">
                <a:lnSpc>
                  <a:spcPts val="2670"/>
                </a:lnSpc>
              </a:pPr>
              <a:r>
                <a:rPr lang="en-US" sz="2225" b="1">
                  <a:solidFill>
                    <a:srgbClr val="FFFFFF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Research Services</a:t>
              </a:r>
              <a:endParaRPr lang="en-US" sz="2225" b="1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 rot="0">
            <a:off x="12166092" y="8680568"/>
            <a:ext cx="576072" cy="822960"/>
            <a:chOff x="0" y="0"/>
            <a:chExt cx="768096" cy="109728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768096" cy="1097280"/>
            </a:xfrm>
            <a:custGeom>
              <a:avLst/>
              <a:gdLst/>
              <a:ahLst/>
              <a:cxnLst/>
              <a:rect l="l" t="t" r="r" b="b"/>
              <a:pathLst>
                <a:path w="768096" h="1097280">
                  <a:moveTo>
                    <a:pt x="0" y="0"/>
                  </a:moveTo>
                  <a:lnTo>
                    <a:pt x="768096" y="0"/>
                  </a:lnTo>
                  <a:lnTo>
                    <a:pt x="76809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66675"/>
              <a:ext cx="768096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21295C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→</a:t>
              </a:r>
              <a:endParaRPr lang="en-US" sz="3000" b="1">
                <a:solidFill>
                  <a:srgbClr val="21295C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 rot="0">
            <a:off x="12942189" y="8622315"/>
            <a:ext cx="3593592" cy="822960"/>
            <a:chOff x="0" y="0"/>
            <a:chExt cx="4791456" cy="109728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791456" cy="1097280"/>
            </a:xfrm>
            <a:custGeom>
              <a:avLst/>
              <a:gdLst/>
              <a:ahLst/>
              <a:cxnLst/>
              <a:rect l="l" t="t" r="r" b="b"/>
              <a:pathLst>
                <a:path w="4791456" h="1097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45152" y="0"/>
                  </a:lnTo>
                  <a:cubicBezTo>
                    <a:pt x="4725924" y="0"/>
                    <a:pt x="4791456" y="65532"/>
                    <a:pt x="4791456" y="146304"/>
                  </a:cubicBezTo>
                  <a:lnTo>
                    <a:pt x="4791456" y="950976"/>
                  </a:lnTo>
                  <a:cubicBezTo>
                    <a:pt x="4791456" y="1031748"/>
                    <a:pt x="4725924" y="1097280"/>
                    <a:pt x="4645152" y="1097280"/>
                  </a:cubicBezTo>
                  <a:lnTo>
                    <a:pt x="146304" y="1097280"/>
                  </a:lnTo>
                  <a:cubicBezTo>
                    <a:pt x="65532" y="1097280"/>
                    <a:pt x="0" y="1031748"/>
                    <a:pt x="0" y="95097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108" name="Group 108"/>
          <p:cNvGrpSpPr/>
          <p:nvPr/>
        </p:nvGrpSpPr>
        <p:grpSpPr>
          <a:xfrm rot="0">
            <a:off x="13008864" y="8739282"/>
            <a:ext cx="548640" cy="548640"/>
            <a:chOff x="0" y="0"/>
            <a:chExt cx="731520" cy="73152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0" name="Group 110"/>
          <p:cNvGrpSpPr/>
          <p:nvPr/>
        </p:nvGrpSpPr>
        <p:grpSpPr>
          <a:xfrm rot="0">
            <a:off x="13118592" y="8849010"/>
            <a:ext cx="329184" cy="329184"/>
            <a:chOff x="0" y="0"/>
            <a:chExt cx="438912" cy="438912"/>
          </a:xfrm>
        </p:grpSpPr>
        <p:sp>
          <p:nvSpPr>
            <p:cNvPr id="111" name="Freeform 111" descr="/home/claude/icons/bell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12" name="Group 112"/>
          <p:cNvGrpSpPr/>
          <p:nvPr/>
        </p:nvGrpSpPr>
        <p:grpSpPr>
          <a:xfrm rot="0">
            <a:off x="13838344" y="8622315"/>
            <a:ext cx="2519172" cy="954250"/>
            <a:chOff x="0" y="0"/>
            <a:chExt cx="3511296" cy="1330061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3511296" cy="1330061"/>
            </a:xfrm>
            <a:custGeom>
              <a:avLst/>
              <a:gdLst/>
              <a:ahLst/>
              <a:cxnLst/>
              <a:rect l="l" t="t" r="r" b="b"/>
              <a:pathLst>
                <a:path w="3511296" h="1330061">
                  <a:moveTo>
                    <a:pt x="0" y="0"/>
                  </a:moveTo>
                  <a:lnTo>
                    <a:pt x="3511296" y="0"/>
                  </a:lnTo>
                  <a:lnTo>
                    <a:pt x="3511296" y="1330061"/>
                  </a:lnTo>
                  <a:lnTo>
                    <a:pt x="0" y="1330061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190" b="7311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0"/>
              <a:ext cx="3511296" cy="13300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70"/>
                </a:lnSpc>
              </a:pPr>
              <a:r>
                <a:rPr lang="en-US" sz="2225" b="1">
                  <a:solidFill>
                    <a:srgbClr val="FFFFFF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Navigation &amp;</a:t>
              </a:r>
              <a:endParaRPr lang="en-US" sz="2225" b="1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  <a:p>
              <a:pPr algn="l">
                <a:lnSpc>
                  <a:spcPts val="2670"/>
                </a:lnSpc>
              </a:pPr>
              <a:r>
                <a:rPr lang="en-US" sz="2225" b="1">
                  <a:solidFill>
                    <a:srgbClr val="FFFFFF"/>
                  </a:solidFill>
                  <a:latin typeface="Helvetica World Bold" panose="020B0800040000020004" charset="-122"/>
                  <a:ea typeface="Helvetica World Bold" panose="020B0800040000020004" charset="-122"/>
                  <a:cs typeface="Helvetica World Bold" panose="020B0800040000020004" charset="-122"/>
                  <a:sym typeface="Helvetica World Bold" panose="020B0800040000020004" charset="-122"/>
                </a:rPr>
                <a:t>Alert Interfaces</a:t>
              </a:r>
              <a:endParaRPr lang="en-US" sz="2225" b="1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 rot="0">
            <a:off x="14670129" y="0"/>
            <a:ext cx="3374774" cy="1593504"/>
            <a:chOff x="0" y="0"/>
            <a:chExt cx="4499699" cy="2124672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1"/>
              </a:stretch>
            </a:blipFill>
          </p:spPr>
        </p:sp>
      </p:grpSp>
      <p:grpSp>
        <p:nvGrpSpPr>
          <p:cNvPr id="117" name="Group 117"/>
          <p:cNvGrpSpPr/>
          <p:nvPr/>
        </p:nvGrpSpPr>
        <p:grpSpPr>
          <a:xfrm rot="0">
            <a:off x="49093" y="91121"/>
            <a:ext cx="2096374" cy="1035658"/>
            <a:chOff x="0" y="0"/>
            <a:chExt cx="2795165" cy="1380877"/>
          </a:xfrm>
        </p:grpSpPr>
        <p:sp>
          <p:nvSpPr>
            <p:cNvPr id="118" name="Freeform 118" descr="Your startup LOGO"/>
            <p:cNvSpPr/>
            <p:nvPr/>
          </p:nvSpPr>
          <p:spPr>
            <a:xfrm>
              <a:off x="0" y="0"/>
              <a:ext cx="2795124" cy="1380890"/>
            </a:xfrm>
            <a:custGeom>
              <a:avLst/>
              <a:gdLst/>
              <a:ahLst/>
              <a:cxnLst/>
              <a:rect l="l" t="t" r="r" b="b"/>
              <a:pathLst>
                <a:path w="2795124" h="1380890">
                  <a:moveTo>
                    <a:pt x="0" y="690444"/>
                  </a:moveTo>
                  <a:cubicBezTo>
                    <a:pt x="0" y="309157"/>
                    <a:pt x="625755" y="0"/>
                    <a:pt x="1397562" y="0"/>
                  </a:cubicBezTo>
                  <a:cubicBezTo>
                    <a:pt x="2169368" y="0"/>
                    <a:pt x="2795124" y="309157"/>
                    <a:pt x="2795124" y="690444"/>
                  </a:cubicBezTo>
                  <a:cubicBezTo>
                    <a:pt x="2795124" y="1071730"/>
                    <a:pt x="2169368" y="1380890"/>
                    <a:pt x="1397562" y="1380890"/>
                  </a:cubicBezTo>
                  <a:cubicBezTo>
                    <a:pt x="625755" y="1380890"/>
                    <a:pt x="0" y="1071730"/>
                    <a:pt x="0" y="69044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0" y="-57150"/>
              <a:ext cx="2795165" cy="1438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id="120" name="Group 120"/>
          <p:cNvGrpSpPr/>
          <p:nvPr/>
        </p:nvGrpSpPr>
        <p:grpSpPr>
          <a:xfrm rot="0">
            <a:off x="260318" y="-620375"/>
            <a:ext cx="10900982" cy="2552711"/>
            <a:chOff x="0" y="0"/>
            <a:chExt cx="14630400" cy="3426039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14630400" cy="3426039"/>
            </a:xfrm>
            <a:custGeom>
              <a:avLst/>
              <a:gdLst/>
              <a:ahLst/>
              <a:cxnLst/>
              <a:rect l="l" t="t" r="r" b="b"/>
              <a:pathLst>
                <a:path w="14630400" h="3426039">
                  <a:moveTo>
                    <a:pt x="0" y="0"/>
                  </a:moveTo>
                  <a:lnTo>
                    <a:pt x="14630400" y="0"/>
                  </a:lnTo>
                  <a:lnTo>
                    <a:pt x="14630400" y="3426039"/>
                  </a:lnTo>
                  <a:lnTo>
                    <a:pt x="0" y="3426039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7194" b="778"/>
              </a:stretch>
            </a:blipFill>
          </p:spPr>
        </p:sp>
        <p:sp>
          <p:nvSpPr>
            <p:cNvPr id="122" name="TextBox 122"/>
            <p:cNvSpPr txBox="1"/>
            <p:nvPr/>
          </p:nvSpPr>
          <p:spPr>
            <a:xfrm>
              <a:off x="0" y="-9525"/>
              <a:ext cx="14630400" cy="34355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000000"/>
                  </a:solidFill>
                  <a:latin typeface="Cambria Bold" panose="02040803050406030204"/>
                  <a:ea typeface="Cambria Bold" panose="02040803050406030204"/>
                  <a:cs typeface="Cambria Bold" panose="02040803050406030204"/>
                  <a:sym typeface="Cambria Bold" panose="02040803050406030204"/>
                </a:rPr>
                <a:t>NEXORA</a:t>
              </a:r>
              <a:endParaRPr lang="en-US" sz="3300" b="1">
                <a:solidFill>
                  <a:srgbClr val="000000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endParaRPr>
            </a:p>
          </p:txBody>
        </p:sp>
      </p:grpSp>
      <p:sp>
        <p:nvSpPr>
          <p:cNvPr id="123" name="Freeform 123"/>
          <p:cNvSpPr/>
          <p:nvPr/>
        </p:nvSpPr>
        <p:spPr>
          <a:xfrm>
            <a:off x="0" y="9706080"/>
            <a:ext cx="18288000" cy="580920"/>
          </a:xfrm>
          <a:custGeom>
            <a:avLst/>
            <a:gdLst/>
            <a:ahLst/>
            <a:cxnLst/>
            <a:rect l="l" t="t" r="r" b="b"/>
            <a:pathLst>
              <a:path w="18288000" h="580920">
                <a:moveTo>
                  <a:pt x="0" y="0"/>
                </a:moveTo>
                <a:lnTo>
                  <a:pt x="18288000" y="0"/>
                </a:lnTo>
                <a:lnTo>
                  <a:pt x="18288000" y="580920"/>
                </a:lnTo>
                <a:lnTo>
                  <a:pt x="0" y="580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b="-31827"/>
            </a:stretch>
          </a:blipFill>
        </p:spPr>
      </p:sp>
      <p:sp>
        <p:nvSpPr>
          <p:cNvPr id="124" name="TextBox 124"/>
          <p:cNvSpPr txBox="1"/>
          <p:nvPr/>
        </p:nvSpPr>
        <p:spPr>
          <a:xfrm>
            <a:off x="17597984" y="9831074"/>
            <a:ext cx="157192" cy="39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2</a:t>
            </a:r>
            <a:endParaRPr lang="en-US" sz="2225">
              <a:solidFill>
                <a:srgbClr val="000000"/>
              </a:solidFill>
              <a:latin typeface="Arial MT Pro" panose="020B0502020202020204"/>
              <a:ea typeface="Arial MT Pro" panose="020B0502020202020204"/>
              <a:cs typeface="Arial MT Pro" panose="020B0502020202020204"/>
              <a:sym typeface="Arial MT Pro" panose="020B0502020202020204"/>
            </a:endParaRPr>
          </a:p>
        </p:txBody>
      </p:sp>
      <p:sp>
        <p:nvSpPr>
          <p:cNvPr id="125" name="TextBox 125"/>
          <p:cNvSpPr txBox="1"/>
          <p:nvPr/>
        </p:nvSpPr>
        <p:spPr>
          <a:xfrm>
            <a:off x="5477826" y="267339"/>
            <a:ext cx="5640709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5"/>
              </a:lnSpc>
              <a:spcBef>
                <a:spcPct val="0"/>
              </a:spcBef>
            </a:pPr>
            <a:r>
              <a:rPr lang="en-US" sz="4400" b="1">
                <a:solidFill>
                  <a:srgbClr val="000000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rPr>
              <a:t>PROPOSED </a:t>
            </a:r>
            <a:r>
              <a:rPr lang="en-US" sz="4425" b="1">
                <a:solidFill>
                  <a:srgbClr val="000000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rPr>
              <a:t>SOLUTION</a:t>
            </a:r>
            <a:endParaRPr lang="en-US" sz="4425" b="1">
              <a:solidFill>
                <a:srgbClr val="000000"/>
              </a:solidFill>
              <a:latin typeface="Cambria Bold" panose="02040803050406030204"/>
              <a:ea typeface="Cambria Bold" panose="02040803050406030204"/>
              <a:cs typeface="Cambria Bold" panose="02040803050406030204"/>
              <a:sym typeface="Cambria Bold" panose="02040803050406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318570" y="-975404"/>
            <a:ext cx="13030200" cy="3226397"/>
            <a:chOff x="0" y="0"/>
            <a:chExt cx="17373600" cy="43018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73600" cy="4301862"/>
            </a:xfrm>
            <a:custGeom>
              <a:avLst/>
              <a:gdLst/>
              <a:ahLst/>
              <a:cxnLst/>
              <a:rect l="l" t="t" r="r" b="b"/>
              <a:pathLst>
                <a:path w="17373600" h="4301862">
                  <a:moveTo>
                    <a:pt x="0" y="0"/>
                  </a:moveTo>
                  <a:lnTo>
                    <a:pt x="17373600" y="0"/>
                  </a:lnTo>
                  <a:lnTo>
                    <a:pt x="17373600" y="4301862"/>
                  </a:lnTo>
                  <a:lnTo>
                    <a:pt x="0" y="430186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7001" b="96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373600" cy="43113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000000"/>
                  </a:solidFill>
                  <a:latin typeface="Cambria Bold" panose="02040803050406030204"/>
                  <a:ea typeface="Cambria Bold" panose="02040803050406030204"/>
                  <a:cs typeface="Cambria Bold" panose="02040803050406030204"/>
                  <a:sym typeface="Cambria Bold" panose="02040803050406030204"/>
                </a:rPr>
                <a:t>TECHNICAL APPROACH</a:t>
              </a:r>
              <a:endParaRPr lang="en-US" sz="4400" b="1">
                <a:solidFill>
                  <a:srgbClr val="000000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5249989" y="1028700"/>
            <a:ext cx="6339840" cy="579203"/>
            <a:chOff x="0" y="0"/>
            <a:chExt cx="10629690" cy="97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29691" cy="971120"/>
            </a:xfrm>
            <a:custGeom>
              <a:avLst/>
              <a:gdLst/>
              <a:ahLst/>
              <a:cxnLst/>
              <a:rect l="l" t="t" r="r" b="b"/>
              <a:pathLst>
                <a:path w="10629691" h="971120">
                  <a:moveTo>
                    <a:pt x="0" y="485560"/>
                  </a:moveTo>
                  <a:cubicBezTo>
                    <a:pt x="0" y="217303"/>
                    <a:pt x="70592" y="0"/>
                    <a:pt x="157737" y="0"/>
                  </a:cubicBezTo>
                  <a:lnTo>
                    <a:pt x="10471954" y="0"/>
                  </a:lnTo>
                  <a:cubicBezTo>
                    <a:pt x="10559097" y="0"/>
                    <a:pt x="10629691" y="217303"/>
                    <a:pt x="10629691" y="485560"/>
                  </a:cubicBezTo>
                  <a:cubicBezTo>
                    <a:pt x="10629691" y="753817"/>
                    <a:pt x="10559097" y="971120"/>
                    <a:pt x="10471954" y="971120"/>
                  </a:cubicBezTo>
                  <a:lnTo>
                    <a:pt x="157737" y="971120"/>
                  </a:lnTo>
                  <a:cubicBezTo>
                    <a:pt x="70592" y="971120"/>
                    <a:pt x="0" y="753817"/>
                    <a:pt x="0" y="48556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7" name="Group 7"/>
          <p:cNvGrpSpPr/>
          <p:nvPr/>
        </p:nvGrpSpPr>
        <p:grpSpPr>
          <a:xfrm rot="0">
            <a:off x="1778213" y="902150"/>
            <a:ext cx="13347297" cy="832303"/>
            <a:chOff x="0" y="0"/>
            <a:chExt cx="18793901" cy="117193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793901" cy="1171939"/>
            </a:xfrm>
            <a:custGeom>
              <a:avLst/>
              <a:gdLst/>
              <a:ahLst/>
              <a:cxnLst/>
              <a:rect l="l" t="t" r="r" b="b"/>
              <a:pathLst>
                <a:path w="18793901" h="1171939">
                  <a:moveTo>
                    <a:pt x="0" y="0"/>
                  </a:moveTo>
                  <a:lnTo>
                    <a:pt x="18793901" y="0"/>
                  </a:lnTo>
                  <a:lnTo>
                    <a:pt x="18793901" y="1171939"/>
                  </a:lnTo>
                  <a:lnTo>
                    <a:pt x="0" y="1171939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40738" r="-18034" b="-29691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8793901" cy="12195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 spc="174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HIGH-LEVEL ARCHITECTURE / FLOW DIAGRAM</a:t>
              </a:r>
              <a:endParaRPr lang="en-US" sz="2100" b="1" spc="174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958150" y="1766126"/>
            <a:ext cx="802005" cy="802005"/>
            <a:chOff x="0" y="0"/>
            <a:chExt cx="1069340" cy="10693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9340" cy="1069340"/>
            </a:xfrm>
            <a:custGeom>
              <a:avLst/>
              <a:gdLst/>
              <a:ahLst/>
              <a:cxnLst/>
              <a:rect l="l" t="t" r="r" b="b"/>
              <a:pathLst>
                <a:path w="1069340" h="1069340">
                  <a:moveTo>
                    <a:pt x="0" y="534670"/>
                  </a:moveTo>
                  <a:cubicBezTo>
                    <a:pt x="0" y="239395"/>
                    <a:pt x="239395" y="0"/>
                    <a:pt x="534670" y="0"/>
                  </a:cubicBezTo>
                  <a:cubicBezTo>
                    <a:pt x="829945" y="0"/>
                    <a:pt x="1069340" y="239395"/>
                    <a:pt x="1069340" y="534670"/>
                  </a:cubicBezTo>
                  <a:cubicBezTo>
                    <a:pt x="1069340" y="829945"/>
                    <a:pt x="829945" y="1069340"/>
                    <a:pt x="534670" y="1069340"/>
                  </a:cubicBezTo>
                  <a:cubicBezTo>
                    <a:pt x="239395" y="1069340"/>
                    <a:pt x="0" y="829945"/>
                    <a:pt x="0" y="534670"/>
                  </a:cubicBezTo>
                  <a:close/>
                </a:path>
              </a:pathLst>
            </a:custGeom>
            <a:solidFill>
              <a:srgbClr val="065A82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 rot="0">
            <a:off x="2147926" y="1955902"/>
            <a:ext cx="422453" cy="422453"/>
            <a:chOff x="0" y="0"/>
            <a:chExt cx="563270" cy="563270"/>
          </a:xfrm>
        </p:grpSpPr>
        <p:sp>
          <p:nvSpPr>
            <p:cNvPr id="15" name="Freeform 15" descr="/home/claude/icons/input.png"/>
            <p:cNvSpPr/>
            <p:nvPr/>
          </p:nvSpPr>
          <p:spPr>
            <a:xfrm>
              <a:off x="0" y="0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5" h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" b="-4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932688" y="2647188"/>
            <a:ext cx="2852928" cy="438912"/>
            <a:chOff x="0" y="0"/>
            <a:chExt cx="3803904" cy="5852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03904" cy="585216"/>
            </a:xfrm>
            <a:custGeom>
              <a:avLst/>
              <a:gdLst/>
              <a:ahLst/>
              <a:cxnLst/>
              <a:rect l="l" t="t" r="r" b="b"/>
              <a:pathLst>
                <a:path w="3803904" h="585216">
                  <a:moveTo>
                    <a:pt x="0" y="0"/>
                  </a:moveTo>
                  <a:lnTo>
                    <a:pt x="3803904" y="0"/>
                  </a:lnTo>
                  <a:lnTo>
                    <a:pt x="380390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6652" b="-7665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803904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065A82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1. INPUT</a:t>
              </a:r>
              <a:endParaRPr lang="en-US" sz="2025" b="1">
                <a:solidFill>
                  <a:srgbClr val="065A82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932688" y="3058668"/>
            <a:ext cx="2852928" cy="361263"/>
            <a:chOff x="0" y="0"/>
            <a:chExt cx="3803904" cy="4816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03904" cy="481684"/>
            </a:xfrm>
            <a:custGeom>
              <a:avLst/>
              <a:gdLst/>
              <a:ahLst/>
              <a:cxnLst/>
              <a:rect l="l" t="t" r="r" b="b"/>
              <a:pathLst>
                <a:path w="3803904" h="481684">
                  <a:moveTo>
                    <a:pt x="0" y="0"/>
                  </a:moveTo>
                  <a:lnTo>
                    <a:pt x="3803904" y="0"/>
                  </a:lnTo>
                  <a:lnTo>
                    <a:pt x="3803904" y="481684"/>
                  </a:lnTo>
                  <a:lnTo>
                    <a:pt x="0" y="481684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4518" b="-103232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3803904" cy="481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20"/>
                </a:lnSpc>
              </a:pPr>
              <a:r>
                <a:rPr lang="en-US" sz="1850" b="1">
                  <a:solidFill>
                    <a:srgbClr val="21295C"/>
                  </a:solidFill>
                  <a:latin typeface="Canva Sans 1 Bold" panose="020B0803030501040103"/>
                  <a:ea typeface="Canva Sans 1 Bold" panose="020B0803030501040103"/>
                  <a:cs typeface="Canva Sans 1 Bold" panose="020B0803030501040103"/>
                  <a:sym typeface="Canva Sans 1 Bold" panose="020B0803030501040103"/>
                </a:rPr>
                <a:t>Environmental Data</a:t>
              </a:r>
              <a:endParaRPr lang="en-US" sz="1850" b="1">
                <a:solidFill>
                  <a:srgbClr val="21295C"/>
                </a:solidFill>
                <a:latin typeface="Canva Sans 1 Bold" panose="020B0803030501040103"/>
                <a:ea typeface="Canva Sans 1 Bold" panose="020B0803030501040103"/>
                <a:cs typeface="Canva Sans 1 Bold" panose="020B0803030501040103"/>
                <a:sym typeface="Canva Sans 1 Bold" panose="020B0803030501040103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3922776" y="3538728"/>
            <a:ext cx="178308" cy="246888"/>
            <a:chOff x="0" y="0"/>
            <a:chExt cx="237744" cy="3291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7744" cy="329184"/>
            </a:xfrm>
            <a:custGeom>
              <a:avLst/>
              <a:gdLst/>
              <a:ahLst/>
              <a:cxnLst/>
              <a:rect l="l" t="t" r="r" b="b"/>
              <a:pathLst>
                <a:path w="237744" h="329184">
                  <a:moveTo>
                    <a:pt x="0" y="0"/>
                  </a:moveTo>
                  <a:lnTo>
                    <a:pt x="118872" y="0"/>
                  </a:lnTo>
                  <a:lnTo>
                    <a:pt x="237744" y="164592"/>
                  </a:lnTo>
                  <a:lnTo>
                    <a:pt x="118872" y="329184"/>
                  </a:lnTo>
                  <a:lnTo>
                    <a:pt x="0" y="329184"/>
                  </a:lnTo>
                  <a:lnTo>
                    <a:pt x="118872" y="164592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5249990" y="1766126"/>
            <a:ext cx="802005" cy="802005"/>
            <a:chOff x="0" y="0"/>
            <a:chExt cx="1069340" cy="10693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9340" cy="1069340"/>
            </a:xfrm>
            <a:custGeom>
              <a:avLst/>
              <a:gdLst/>
              <a:ahLst/>
              <a:cxnLst/>
              <a:rect l="l" t="t" r="r" b="b"/>
              <a:pathLst>
                <a:path w="1069340" h="1069340">
                  <a:moveTo>
                    <a:pt x="0" y="534670"/>
                  </a:moveTo>
                  <a:cubicBezTo>
                    <a:pt x="0" y="239395"/>
                    <a:pt x="239395" y="0"/>
                    <a:pt x="534670" y="0"/>
                  </a:cubicBezTo>
                  <a:cubicBezTo>
                    <a:pt x="829945" y="0"/>
                    <a:pt x="1069340" y="239395"/>
                    <a:pt x="1069340" y="534670"/>
                  </a:cubicBezTo>
                  <a:cubicBezTo>
                    <a:pt x="1069340" y="829945"/>
                    <a:pt x="829945" y="1069340"/>
                    <a:pt x="534670" y="1069340"/>
                  </a:cubicBezTo>
                  <a:cubicBezTo>
                    <a:pt x="239395" y="1069340"/>
                    <a:pt x="0" y="829945"/>
                    <a:pt x="0" y="534670"/>
                  </a:cubicBezTo>
                  <a:close/>
                </a:path>
              </a:pathLst>
            </a:custGeom>
            <a:solidFill>
              <a:srgbClr val="1C7293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 rot="0">
            <a:off x="5439766" y="1955902"/>
            <a:ext cx="422453" cy="422453"/>
            <a:chOff x="0" y="0"/>
            <a:chExt cx="563270" cy="563270"/>
          </a:xfrm>
        </p:grpSpPr>
        <p:sp>
          <p:nvSpPr>
            <p:cNvPr id="29" name="Freeform 29" descr="/home/claude/icons/process.png"/>
            <p:cNvSpPr/>
            <p:nvPr/>
          </p:nvSpPr>
          <p:spPr>
            <a:xfrm>
              <a:off x="0" y="0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5" h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" b="-4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 rot="0">
            <a:off x="4224528" y="3058668"/>
            <a:ext cx="2852928" cy="356616"/>
            <a:chOff x="0" y="0"/>
            <a:chExt cx="3803904" cy="47548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803904" cy="475488"/>
            </a:xfrm>
            <a:custGeom>
              <a:avLst/>
              <a:gdLst/>
              <a:ahLst/>
              <a:cxnLst/>
              <a:rect l="l" t="t" r="r" b="b"/>
              <a:pathLst>
                <a:path w="3803904" h="475488">
                  <a:moveTo>
                    <a:pt x="0" y="0"/>
                  </a:moveTo>
                  <a:lnTo>
                    <a:pt x="3803904" y="0"/>
                  </a:lnTo>
                  <a:lnTo>
                    <a:pt x="380390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9525"/>
              <a:ext cx="3803904" cy="465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1295C"/>
                  </a:solidFill>
                  <a:latin typeface="Canva Sans 1 Bold" panose="020B0803030501040103"/>
                  <a:ea typeface="Canva Sans 1 Bold" panose="020B0803030501040103"/>
                  <a:cs typeface="Canva Sans 1 Bold" panose="020B0803030501040103"/>
                  <a:sym typeface="Canva Sans 1 Bold" panose="020B0803030501040103"/>
                </a:rPr>
                <a:t>AI / ML Pipeline</a:t>
              </a:r>
              <a:endParaRPr lang="en-US" sz="1800" b="1">
                <a:solidFill>
                  <a:srgbClr val="21295C"/>
                </a:solidFill>
                <a:latin typeface="Canva Sans 1 Bold" panose="020B0803030501040103"/>
                <a:ea typeface="Canva Sans 1 Bold" panose="020B0803030501040103"/>
                <a:cs typeface="Canva Sans 1 Bold" panose="020B0803030501040103"/>
                <a:sym typeface="Canva Sans 1 Bold" panose="020B0803030501040103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7214616" y="3538728"/>
            <a:ext cx="178308" cy="246888"/>
            <a:chOff x="0" y="0"/>
            <a:chExt cx="237744" cy="3291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37744" cy="329184"/>
            </a:xfrm>
            <a:custGeom>
              <a:avLst/>
              <a:gdLst/>
              <a:ahLst/>
              <a:cxnLst/>
              <a:rect l="l" t="t" r="r" b="b"/>
              <a:pathLst>
                <a:path w="237744" h="329184">
                  <a:moveTo>
                    <a:pt x="0" y="0"/>
                  </a:moveTo>
                  <a:lnTo>
                    <a:pt x="118872" y="0"/>
                  </a:lnTo>
                  <a:lnTo>
                    <a:pt x="237744" y="164592"/>
                  </a:lnTo>
                  <a:lnTo>
                    <a:pt x="118872" y="329184"/>
                  </a:lnTo>
                  <a:lnTo>
                    <a:pt x="0" y="329184"/>
                  </a:lnTo>
                  <a:lnTo>
                    <a:pt x="118872" y="164592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40" name="Group 40"/>
          <p:cNvGrpSpPr/>
          <p:nvPr/>
        </p:nvGrpSpPr>
        <p:grpSpPr>
          <a:xfrm rot="0">
            <a:off x="8541830" y="1766126"/>
            <a:ext cx="802005" cy="802005"/>
            <a:chOff x="0" y="0"/>
            <a:chExt cx="1069340" cy="10693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69340" cy="1069340"/>
            </a:xfrm>
            <a:custGeom>
              <a:avLst/>
              <a:gdLst/>
              <a:ahLst/>
              <a:cxnLst/>
              <a:rect l="l" t="t" r="r" b="b"/>
              <a:pathLst>
                <a:path w="1069340" h="1069340">
                  <a:moveTo>
                    <a:pt x="0" y="534670"/>
                  </a:moveTo>
                  <a:cubicBezTo>
                    <a:pt x="0" y="239395"/>
                    <a:pt x="239395" y="0"/>
                    <a:pt x="534670" y="0"/>
                  </a:cubicBezTo>
                  <a:cubicBezTo>
                    <a:pt x="829945" y="0"/>
                    <a:pt x="1069340" y="239395"/>
                    <a:pt x="1069340" y="534670"/>
                  </a:cubicBezTo>
                  <a:cubicBezTo>
                    <a:pt x="1069340" y="829945"/>
                    <a:pt x="829945" y="1069340"/>
                    <a:pt x="534670" y="1069340"/>
                  </a:cubicBezTo>
                  <a:cubicBezTo>
                    <a:pt x="239395" y="1069340"/>
                    <a:pt x="0" y="829945"/>
                    <a:pt x="0" y="534670"/>
                  </a:cubicBezTo>
                  <a:close/>
                </a:path>
              </a:pathLst>
            </a:custGeom>
            <a:solidFill>
              <a:srgbClr val="E8871E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 rot="0">
            <a:off x="8731606" y="1955902"/>
            <a:ext cx="422453" cy="422453"/>
            <a:chOff x="0" y="0"/>
            <a:chExt cx="563270" cy="563270"/>
          </a:xfrm>
        </p:grpSpPr>
        <p:sp>
          <p:nvSpPr>
            <p:cNvPr id="43" name="Freeform 43" descr="/home/claude/icons/store.png"/>
            <p:cNvSpPr/>
            <p:nvPr/>
          </p:nvSpPr>
          <p:spPr>
            <a:xfrm>
              <a:off x="0" y="0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5" h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-4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 rot="0">
            <a:off x="7516368" y="2647188"/>
            <a:ext cx="2852928" cy="438912"/>
            <a:chOff x="0" y="0"/>
            <a:chExt cx="3803904" cy="58521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803904" cy="585216"/>
            </a:xfrm>
            <a:custGeom>
              <a:avLst/>
              <a:gdLst/>
              <a:ahLst/>
              <a:cxnLst/>
              <a:rect l="l" t="t" r="r" b="b"/>
              <a:pathLst>
                <a:path w="3803904" h="585216">
                  <a:moveTo>
                    <a:pt x="0" y="0"/>
                  </a:moveTo>
                  <a:lnTo>
                    <a:pt x="3803904" y="0"/>
                  </a:lnTo>
                  <a:lnTo>
                    <a:pt x="380390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6652" b="-76652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803904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E8871E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3. STORE</a:t>
              </a:r>
              <a:endParaRPr lang="en-US" sz="2025" b="1">
                <a:solidFill>
                  <a:srgbClr val="E8871E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7516368" y="3058668"/>
            <a:ext cx="2852928" cy="356616"/>
            <a:chOff x="0" y="0"/>
            <a:chExt cx="3803904" cy="47548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803904" cy="475488"/>
            </a:xfrm>
            <a:custGeom>
              <a:avLst/>
              <a:gdLst/>
              <a:ahLst/>
              <a:cxnLst/>
              <a:rect l="l" t="t" r="r" b="b"/>
              <a:pathLst>
                <a:path w="3803904" h="475488">
                  <a:moveTo>
                    <a:pt x="0" y="0"/>
                  </a:moveTo>
                  <a:lnTo>
                    <a:pt x="3803904" y="0"/>
                  </a:lnTo>
                  <a:lnTo>
                    <a:pt x="380390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9525"/>
              <a:ext cx="3803904" cy="465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1295C"/>
                  </a:solidFill>
                  <a:latin typeface="Canva Sans 1 Bold" panose="020B0803030501040103"/>
                  <a:ea typeface="Canva Sans 1 Bold" panose="020B0803030501040103"/>
                  <a:cs typeface="Canva Sans 1 Bold" panose="020B0803030501040103"/>
                  <a:sym typeface="Canva Sans 1 Bold" panose="020B0803030501040103"/>
                </a:rPr>
                <a:t>Data Layer</a:t>
              </a:r>
              <a:endParaRPr lang="en-US" sz="1800" b="1">
                <a:solidFill>
                  <a:srgbClr val="21295C"/>
                </a:solidFill>
                <a:latin typeface="Canva Sans 1 Bold" panose="020B0803030501040103"/>
                <a:ea typeface="Canva Sans 1 Bold" panose="020B0803030501040103"/>
                <a:cs typeface="Canva Sans 1 Bold" panose="020B0803030501040103"/>
                <a:sym typeface="Canva Sans 1 Bold" panose="020B0803030501040103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10506456" y="3538728"/>
            <a:ext cx="178308" cy="246888"/>
            <a:chOff x="0" y="0"/>
            <a:chExt cx="237744" cy="32918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7744" cy="329184"/>
            </a:xfrm>
            <a:custGeom>
              <a:avLst/>
              <a:gdLst/>
              <a:ahLst/>
              <a:cxnLst/>
              <a:rect l="l" t="t" r="r" b="b"/>
              <a:pathLst>
                <a:path w="237744" h="329184">
                  <a:moveTo>
                    <a:pt x="0" y="0"/>
                  </a:moveTo>
                  <a:lnTo>
                    <a:pt x="118872" y="0"/>
                  </a:lnTo>
                  <a:lnTo>
                    <a:pt x="237744" y="164592"/>
                  </a:lnTo>
                  <a:lnTo>
                    <a:pt x="118872" y="329184"/>
                  </a:lnTo>
                  <a:lnTo>
                    <a:pt x="0" y="329184"/>
                  </a:lnTo>
                  <a:lnTo>
                    <a:pt x="118872" y="164592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52" name="Group 52"/>
          <p:cNvGrpSpPr/>
          <p:nvPr/>
        </p:nvGrpSpPr>
        <p:grpSpPr>
          <a:xfrm rot="0">
            <a:off x="13987939" y="6023134"/>
            <a:ext cx="3086672" cy="2698433"/>
            <a:chOff x="0" y="0"/>
            <a:chExt cx="4115562" cy="359791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115562" cy="3597910"/>
            </a:xfrm>
            <a:custGeom>
              <a:avLst/>
              <a:gdLst/>
              <a:ahLst/>
              <a:cxnLst/>
              <a:rect l="l" t="t" r="r" b="b"/>
              <a:pathLst>
                <a:path w="4115562" h="3597910">
                  <a:moveTo>
                    <a:pt x="0" y="132090"/>
                  </a:moveTo>
                  <a:cubicBezTo>
                    <a:pt x="0" y="59087"/>
                    <a:pt x="65786" y="0"/>
                    <a:pt x="147066" y="0"/>
                  </a:cubicBezTo>
                  <a:lnTo>
                    <a:pt x="3968496" y="0"/>
                  </a:lnTo>
                  <a:cubicBezTo>
                    <a:pt x="4049649" y="0"/>
                    <a:pt x="4115562" y="59087"/>
                    <a:pt x="4115562" y="132090"/>
                  </a:cubicBezTo>
                  <a:lnTo>
                    <a:pt x="4115562" y="3465820"/>
                  </a:lnTo>
                  <a:cubicBezTo>
                    <a:pt x="4115562" y="3538709"/>
                    <a:pt x="4049776" y="3597910"/>
                    <a:pt x="3968496" y="3597910"/>
                  </a:cubicBezTo>
                  <a:lnTo>
                    <a:pt x="147066" y="3597910"/>
                  </a:lnTo>
                  <a:cubicBezTo>
                    <a:pt x="65786" y="3597910"/>
                    <a:pt x="0" y="3538823"/>
                    <a:pt x="0" y="3465820"/>
                  </a:cubicBezTo>
                  <a:close/>
                </a:path>
              </a:pathLst>
            </a:custGeom>
            <a:blipFill>
              <a:blip r:embed="rId1"/>
              <a:stretch>
                <a:fillRect l="-74882" r="-74882" b="-11337"/>
              </a:stretch>
            </a:blip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 rot="0">
            <a:off x="11833670" y="1766126"/>
            <a:ext cx="802005" cy="802005"/>
            <a:chOff x="0" y="0"/>
            <a:chExt cx="1069340" cy="10693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69340" cy="1069340"/>
            </a:xfrm>
            <a:custGeom>
              <a:avLst/>
              <a:gdLst/>
              <a:ahLst/>
              <a:cxnLst/>
              <a:rect l="l" t="t" r="r" b="b"/>
              <a:pathLst>
                <a:path w="1069340" h="1069340">
                  <a:moveTo>
                    <a:pt x="0" y="534670"/>
                  </a:moveTo>
                  <a:cubicBezTo>
                    <a:pt x="0" y="239395"/>
                    <a:pt x="239395" y="0"/>
                    <a:pt x="534670" y="0"/>
                  </a:cubicBezTo>
                  <a:cubicBezTo>
                    <a:pt x="829945" y="0"/>
                    <a:pt x="1069340" y="239395"/>
                    <a:pt x="1069340" y="534670"/>
                  </a:cubicBezTo>
                  <a:cubicBezTo>
                    <a:pt x="1069340" y="829945"/>
                    <a:pt x="829945" y="1069340"/>
                    <a:pt x="534670" y="1069340"/>
                  </a:cubicBezTo>
                  <a:cubicBezTo>
                    <a:pt x="239395" y="1069340"/>
                    <a:pt x="0" y="829945"/>
                    <a:pt x="0" y="534670"/>
                  </a:cubicBezTo>
                  <a:close/>
                </a:path>
              </a:pathLst>
            </a:custGeom>
            <a:solidFill>
              <a:srgbClr val="5B2C6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 rot="0">
            <a:off x="12023446" y="1955902"/>
            <a:ext cx="422453" cy="422453"/>
            <a:chOff x="0" y="0"/>
            <a:chExt cx="563270" cy="563270"/>
          </a:xfrm>
        </p:grpSpPr>
        <p:sp>
          <p:nvSpPr>
            <p:cNvPr id="57" name="Freeform 57" descr="/home/claude/icons/output.png"/>
            <p:cNvSpPr/>
            <p:nvPr/>
          </p:nvSpPr>
          <p:spPr>
            <a:xfrm>
              <a:off x="0" y="0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5" h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" b="-4"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 rot="0">
            <a:off x="10808208" y="2647188"/>
            <a:ext cx="2852928" cy="438912"/>
            <a:chOff x="0" y="0"/>
            <a:chExt cx="3803904" cy="58521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803904" cy="585216"/>
            </a:xfrm>
            <a:custGeom>
              <a:avLst/>
              <a:gdLst/>
              <a:ahLst/>
              <a:cxnLst/>
              <a:rect l="l" t="t" r="r" b="b"/>
              <a:pathLst>
                <a:path w="3803904" h="585216">
                  <a:moveTo>
                    <a:pt x="0" y="0"/>
                  </a:moveTo>
                  <a:lnTo>
                    <a:pt x="3803904" y="0"/>
                  </a:lnTo>
                  <a:lnTo>
                    <a:pt x="380390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6652" b="-7665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3803904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5B2C6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4. OUTPUT</a:t>
              </a:r>
              <a:endParaRPr lang="en-US" sz="2025" b="1">
                <a:solidFill>
                  <a:srgbClr val="5B2C6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 rot="0">
            <a:off x="10808208" y="3058668"/>
            <a:ext cx="2852928" cy="356616"/>
            <a:chOff x="0" y="0"/>
            <a:chExt cx="3803904" cy="47548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803904" cy="475488"/>
            </a:xfrm>
            <a:custGeom>
              <a:avLst/>
              <a:gdLst/>
              <a:ahLst/>
              <a:cxnLst/>
              <a:rect l="l" t="t" r="r" b="b"/>
              <a:pathLst>
                <a:path w="3803904" h="475488">
                  <a:moveTo>
                    <a:pt x="0" y="0"/>
                  </a:moveTo>
                  <a:lnTo>
                    <a:pt x="3803904" y="0"/>
                  </a:lnTo>
                  <a:lnTo>
                    <a:pt x="380390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9525"/>
              <a:ext cx="3803904" cy="465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1295C"/>
                  </a:solidFill>
                  <a:latin typeface="Canva Sans 1 Bold" panose="020B0803030501040103"/>
                  <a:ea typeface="Canva Sans 1 Bold" panose="020B0803030501040103"/>
                  <a:cs typeface="Canva Sans 1 Bold" panose="020B0803030501040103"/>
                  <a:sym typeface="Canva Sans 1 Bold" panose="020B0803030501040103"/>
                </a:rPr>
                <a:t>Decision Support</a:t>
              </a:r>
              <a:endParaRPr lang="en-US" sz="1800" b="1">
                <a:solidFill>
                  <a:srgbClr val="21295C"/>
                </a:solidFill>
                <a:latin typeface="Canva Sans 1 Bold" panose="020B0803030501040103"/>
                <a:ea typeface="Canva Sans 1 Bold" panose="020B0803030501040103"/>
                <a:cs typeface="Canva Sans 1 Bold" panose="020B0803030501040103"/>
                <a:sym typeface="Canva Sans 1 Bold" panose="020B0803030501040103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 rot="0">
            <a:off x="13798296" y="3538728"/>
            <a:ext cx="178308" cy="246888"/>
            <a:chOff x="0" y="0"/>
            <a:chExt cx="237744" cy="32918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37744" cy="329184"/>
            </a:xfrm>
            <a:custGeom>
              <a:avLst/>
              <a:gdLst/>
              <a:ahLst/>
              <a:cxnLst/>
              <a:rect l="l" t="t" r="r" b="b"/>
              <a:pathLst>
                <a:path w="237744" h="329184">
                  <a:moveTo>
                    <a:pt x="0" y="0"/>
                  </a:moveTo>
                  <a:lnTo>
                    <a:pt x="118872" y="0"/>
                  </a:lnTo>
                  <a:lnTo>
                    <a:pt x="237744" y="164592"/>
                  </a:lnTo>
                  <a:lnTo>
                    <a:pt x="118872" y="329184"/>
                  </a:lnTo>
                  <a:lnTo>
                    <a:pt x="0" y="329184"/>
                  </a:lnTo>
                  <a:lnTo>
                    <a:pt x="118872" y="164592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68" name="Group 68"/>
          <p:cNvGrpSpPr/>
          <p:nvPr/>
        </p:nvGrpSpPr>
        <p:grpSpPr>
          <a:xfrm rot="0">
            <a:off x="15125510" y="1766126"/>
            <a:ext cx="802005" cy="802005"/>
            <a:chOff x="0" y="0"/>
            <a:chExt cx="1069340" cy="10693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69340" cy="1069340"/>
            </a:xfrm>
            <a:custGeom>
              <a:avLst/>
              <a:gdLst/>
              <a:ahLst/>
              <a:cxnLst/>
              <a:rect l="l" t="t" r="r" b="b"/>
              <a:pathLst>
                <a:path w="1069340" h="1069340">
                  <a:moveTo>
                    <a:pt x="0" y="534670"/>
                  </a:moveTo>
                  <a:cubicBezTo>
                    <a:pt x="0" y="239395"/>
                    <a:pt x="239395" y="0"/>
                    <a:pt x="534670" y="0"/>
                  </a:cubicBezTo>
                  <a:cubicBezTo>
                    <a:pt x="829945" y="0"/>
                    <a:pt x="1069340" y="239395"/>
                    <a:pt x="1069340" y="534670"/>
                  </a:cubicBezTo>
                  <a:cubicBezTo>
                    <a:pt x="1069340" y="829945"/>
                    <a:pt x="829945" y="1069340"/>
                    <a:pt x="534670" y="1069340"/>
                  </a:cubicBezTo>
                  <a:cubicBezTo>
                    <a:pt x="239395" y="1069340"/>
                    <a:pt x="0" y="829945"/>
                    <a:pt x="0" y="534670"/>
                  </a:cubicBezTo>
                  <a:close/>
                </a:path>
              </a:pathLst>
            </a:custGeom>
            <a:solidFill>
              <a:srgbClr val="1E8449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 rot="0">
            <a:off x="15315286" y="1955902"/>
            <a:ext cx="422453" cy="422453"/>
            <a:chOff x="0" y="0"/>
            <a:chExt cx="563270" cy="563270"/>
          </a:xfrm>
        </p:grpSpPr>
        <p:sp>
          <p:nvSpPr>
            <p:cNvPr id="71" name="Freeform 71" descr="/home/claude/icons/users.png"/>
            <p:cNvSpPr/>
            <p:nvPr/>
          </p:nvSpPr>
          <p:spPr>
            <a:xfrm>
              <a:off x="0" y="0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5" h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4" b="-4"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 rot="0">
            <a:off x="14100048" y="2647188"/>
            <a:ext cx="2852928" cy="438912"/>
            <a:chOff x="0" y="0"/>
            <a:chExt cx="3803904" cy="58521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803904" cy="585216"/>
            </a:xfrm>
            <a:custGeom>
              <a:avLst/>
              <a:gdLst/>
              <a:ahLst/>
              <a:cxnLst/>
              <a:rect l="l" t="t" r="r" b="b"/>
              <a:pathLst>
                <a:path w="3803904" h="585216">
                  <a:moveTo>
                    <a:pt x="0" y="0"/>
                  </a:moveTo>
                  <a:lnTo>
                    <a:pt x="3803904" y="0"/>
                  </a:lnTo>
                  <a:lnTo>
                    <a:pt x="380390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6652" b="-76652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3803904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1E844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5. USERS</a:t>
              </a:r>
              <a:endParaRPr lang="en-US" sz="2025" b="1">
                <a:solidFill>
                  <a:srgbClr val="1E844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 rot="0">
            <a:off x="14100048" y="3058668"/>
            <a:ext cx="2852928" cy="356616"/>
            <a:chOff x="0" y="0"/>
            <a:chExt cx="3803904" cy="47548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803904" cy="475488"/>
            </a:xfrm>
            <a:custGeom>
              <a:avLst/>
              <a:gdLst/>
              <a:ahLst/>
              <a:cxnLst/>
              <a:rect l="l" t="t" r="r" b="b"/>
              <a:pathLst>
                <a:path w="3803904" h="475488">
                  <a:moveTo>
                    <a:pt x="0" y="0"/>
                  </a:moveTo>
                  <a:lnTo>
                    <a:pt x="3803904" y="0"/>
                  </a:lnTo>
                  <a:lnTo>
                    <a:pt x="380390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9525"/>
              <a:ext cx="3803904" cy="465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1295C"/>
                  </a:solidFill>
                  <a:latin typeface="Canva Sans 2 Bold" panose="020B0803030501040103"/>
                  <a:ea typeface="Canva Sans 2 Bold" panose="020B0803030501040103"/>
                  <a:cs typeface="Canva Sans 2 Bold" panose="020B0803030501040103"/>
                  <a:sym typeface="Canva Sans 2 Bold" panose="020B0803030501040103"/>
                </a:rPr>
                <a:t>Role-based Access</a:t>
              </a:r>
              <a:endParaRPr lang="en-US" sz="1800" b="1">
                <a:solidFill>
                  <a:srgbClr val="21295C"/>
                </a:solidFill>
                <a:latin typeface="Canva Sans 2 Bold" panose="020B0803030501040103"/>
                <a:ea typeface="Canva Sans 2 Bold" panose="020B0803030501040103"/>
                <a:cs typeface="Canva Sans 2 Bold" panose="020B0803030501040103"/>
                <a:sym typeface="Canva Sans 2 Bold" panose="020B0803030501040103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 rot="0">
            <a:off x="811054" y="6023134"/>
            <a:ext cx="3096196" cy="2698433"/>
            <a:chOff x="0" y="0"/>
            <a:chExt cx="4128262" cy="359791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128262" cy="3597910"/>
            </a:xfrm>
            <a:custGeom>
              <a:avLst/>
              <a:gdLst/>
              <a:ahLst/>
              <a:cxnLst/>
              <a:rect l="l" t="t" r="r" b="b"/>
              <a:pathLst>
                <a:path w="4128262" h="35979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980688" y="0"/>
                  </a:lnTo>
                  <a:cubicBezTo>
                    <a:pt x="4062222" y="0"/>
                    <a:pt x="4128262" y="66040"/>
                    <a:pt x="4128262" y="147574"/>
                  </a:cubicBezTo>
                  <a:lnTo>
                    <a:pt x="4128262" y="3450336"/>
                  </a:lnTo>
                  <a:cubicBezTo>
                    <a:pt x="4128262" y="3531870"/>
                    <a:pt x="4062222" y="3597910"/>
                    <a:pt x="3980688" y="3597910"/>
                  </a:cubicBezTo>
                  <a:lnTo>
                    <a:pt x="147574" y="3597910"/>
                  </a:lnTo>
                  <a:cubicBezTo>
                    <a:pt x="66040" y="3597910"/>
                    <a:pt x="0" y="3531870"/>
                    <a:pt x="0" y="3450336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065A82"/>
              </a:solidFill>
              <a:prstDash val="solid"/>
              <a:miter/>
            </a:ln>
          </p:spPr>
        </p:sp>
      </p:grpSp>
      <p:grpSp>
        <p:nvGrpSpPr>
          <p:cNvPr id="80" name="Group 80"/>
          <p:cNvGrpSpPr/>
          <p:nvPr/>
        </p:nvGrpSpPr>
        <p:grpSpPr>
          <a:xfrm rot="0">
            <a:off x="822960" y="6035040"/>
            <a:ext cx="3072384" cy="493776"/>
            <a:chOff x="0" y="0"/>
            <a:chExt cx="4096512" cy="65836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096512" cy="658368"/>
            </a:xfrm>
            <a:custGeom>
              <a:avLst/>
              <a:gdLst/>
              <a:ahLst/>
              <a:cxnLst/>
              <a:rect l="l" t="t" r="r" b="b"/>
              <a:pathLst>
                <a:path w="4096512" h="6583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50208" y="0"/>
                  </a:lnTo>
                  <a:cubicBezTo>
                    <a:pt x="4030980" y="0"/>
                    <a:pt x="4096512" y="65532"/>
                    <a:pt x="4096512" y="146304"/>
                  </a:cubicBezTo>
                  <a:lnTo>
                    <a:pt x="4096512" y="512064"/>
                  </a:lnTo>
                  <a:cubicBezTo>
                    <a:pt x="4096512" y="592836"/>
                    <a:pt x="4030980" y="658368"/>
                    <a:pt x="3950208" y="658368"/>
                  </a:cubicBezTo>
                  <a:lnTo>
                    <a:pt x="146304" y="658368"/>
                  </a:lnTo>
                  <a:cubicBezTo>
                    <a:pt x="65532" y="658368"/>
                    <a:pt x="0" y="592836"/>
                    <a:pt x="0" y="512064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82" name="Group 82"/>
          <p:cNvGrpSpPr/>
          <p:nvPr/>
        </p:nvGrpSpPr>
        <p:grpSpPr>
          <a:xfrm rot="0">
            <a:off x="822960" y="6281928"/>
            <a:ext cx="3072384" cy="246888"/>
            <a:chOff x="0" y="0"/>
            <a:chExt cx="4096512" cy="32918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096512" cy="329184"/>
            </a:xfrm>
            <a:custGeom>
              <a:avLst/>
              <a:gdLst/>
              <a:ahLst/>
              <a:cxnLst/>
              <a:rect l="l" t="t" r="r" b="b"/>
              <a:pathLst>
                <a:path w="4096512" h="329184">
                  <a:moveTo>
                    <a:pt x="0" y="0"/>
                  </a:moveTo>
                  <a:lnTo>
                    <a:pt x="4096512" y="0"/>
                  </a:lnTo>
                  <a:lnTo>
                    <a:pt x="40965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84" name="Group 84"/>
          <p:cNvGrpSpPr/>
          <p:nvPr/>
        </p:nvGrpSpPr>
        <p:grpSpPr>
          <a:xfrm rot="0">
            <a:off x="960120" y="6117336"/>
            <a:ext cx="329184" cy="329184"/>
            <a:chOff x="0" y="0"/>
            <a:chExt cx="438912" cy="438912"/>
          </a:xfrm>
        </p:grpSpPr>
        <p:sp>
          <p:nvSpPr>
            <p:cNvPr id="85" name="Freeform 85" descr="/home/claude/icons/techstack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 rot="0">
            <a:off x="1371600" y="6035040"/>
            <a:ext cx="2414016" cy="493776"/>
            <a:chOff x="0" y="0"/>
            <a:chExt cx="3218688" cy="65836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218688" cy="658368"/>
            </a:xfrm>
            <a:custGeom>
              <a:avLst/>
              <a:gdLst/>
              <a:ahLst/>
              <a:cxnLst/>
              <a:rect l="l" t="t" r="r" b="b"/>
              <a:pathLst>
                <a:path w="3218688" h="658368">
                  <a:moveTo>
                    <a:pt x="0" y="0"/>
                  </a:moveTo>
                  <a:lnTo>
                    <a:pt x="3218688" y="0"/>
                  </a:lnTo>
                  <a:lnTo>
                    <a:pt x="32186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3218688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0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TECH STACK</a:t>
              </a:r>
              <a:endParaRPr lang="en-US" sz="157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 rot="0">
            <a:off x="4102894" y="6023134"/>
            <a:ext cx="3096196" cy="2698433"/>
            <a:chOff x="0" y="0"/>
            <a:chExt cx="4128262" cy="359791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128262" cy="3597910"/>
            </a:xfrm>
            <a:custGeom>
              <a:avLst/>
              <a:gdLst/>
              <a:ahLst/>
              <a:cxnLst/>
              <a:rect l="l" t="t" r="r" b="b"/>
              <a:pathLst>
                <a:path w="4128262" h="35979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980688" y="0"/>
                  </a:lnTo>
                  <a:cubicBezTo>
                    <a:pt x="4062222" y="0"/>
                    <a:pt x="4128262" y="66040"/>
                    <a:pt x="4128262" y="147574"/>
                  </a:cubicBezTo>
                  <a:lnTo>
                    <a:pt x="4128262" y="3450336"/>
                  </a:lnTo>
                  <a:cubicBezTo>
                    <a:pt x="4128262" y="3531870"/>
                    <a:pt x="4062222" y="3597910"/>
                    <a:pt x="3980688" y="3597910"/>
                  </a:cubicBezTo>
                  <a:lnTo>
                    <a:pt x="147574" y="3597910"/>
                  </a:lnTo>
                  <a:cubicBezTo>
                    <a:pt x="66040" y="3597910"/>
                    <a:pt x="0" y="3531870"/>
                    <a:pt x="0" y="3450336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91" name="Group 91"/>
          <p:cNvGrpSpPr/>
          <p:nvPr/>
        </p:nvGrpSpPr>
        <p:grpSpPr>
          <a:xfrm rot="0">
            <a:off x="4114800" y="6035040"/>
            <a:ext cx="3072384" cy="493776"/>
            <a:chOff x="0" y="0"/>
            <a:chExt cx="4096512" cy="658368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4096512" cy="658368"/>
            </a:xfrm>
            <a:custGeom>
              <a:avLst/>
              <a:gdLst/>
              <a:ahLst/>
              <a:cxnLst/>
              <a:rect l="l" t="t" r="r" b="b"/>
              <a:pathLst>
                <a:path w="4096512" h="6583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50208" y="0"/>
                  </a:lnTo>
                  <a:cubicBezTo>
                    <a:pt x="4030980" y="0"/>
                    <a:pt x="4096512" y="65532"/>
                    <a:pt x="4096512" y="146304"/>
                  </a:cubicBezTo>
                  <a:lnTo>
                    <a:pt x="4096512" y="512064"/>
                  </a:lnTo>
                  <a:cubicBezTo>
                    <a:pt x="4096512" y="592836"/>
                    <a:pt x="4030980" y="658368"/>
                    <a:pt x="3950208" y="658368"/>
                  </a:cubicBezTo>
                  <a:lnTo>
                    <a:pt x="146304" y="658368"/>
                  </a:lnTo>
                  <a:cubicBezTo>
                    <a:pt x="65532" y="658368"/>
                    <a:pt x="0" y="592836"/>
                    <a:pt x="0" y="5120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93" name="Group 93"/>
          <p:cNvGrpSpPr/>
          <p:nvPr/>
        </p:nvGrpSpPr>
        <p:grpSpPr>
          <a:xfrm rot="0">
            <a:off x="4114800" y="6281928"/>
            <a:ext cx="3072384" cy="246888"/>
            <a:chOff x="0" y="0"/>
            <a:chExt cx="4096512" cy="32918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096512" cy="329184"/>
            </a:xfrm>
            <a:custGeom>
              <a:avLst/>
              <a:gdLst/>
              <a:ahLst/>
              <a:cxnLst/>
              <a:rect l="l" t="t" r="r" b="b"/>
              <a:pathLst>
                <a:path w="4096512" h="329184">
                  <a:moveTo>
                    <a:pt x="0" y="0"/>
                  </a:moveTo>
                  <a:lnTo>
                    <a:pt x="4096512" y="0"/>
                  </a:lnTo>
                  <a:lnTo>
                    <a:pt x="40965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95" name="Group 95"/>
          <p:cNvGrpSpPr/>
          <p:nvPr/>
        </p:nvGrpSpPr>
        <p:grpSpPr>
          <a:xfrm rot="0">
            <a:off x="4251960" y="6117336"/>
            <a:ext cx="329184" cy="329184"/>
            <a:chOff x="0" y="0"/>
            <a:chExt cx="438912" cy="438912"/>
          </a:xfrm>
        </p:grpSpPr>
        <p:sp>
          <p:nvSpPr>
            <p:cNvPr id="96" name="Freeform 96" descr="/home/claude/icons/dataflow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97" name="Group 97"/>
          <p:cNvGrpSpPr/>
          <p:nvPr/>
        </p:nvGrpSpPr>
        <p:grpSpPr>
          <a:xfrm rot="0">
            <a:off x="4663440" y="6035040"/>
            <a:ext cx="2414016" cy="493776"/>
            <a:chOff x="0" y="0"/>
            <a:chExt cx="3218688" cy="65836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218688" cy="658368"/>
            </a:xfrm>
            <a:custGeom>
              <a:avLst/>
              <a:gdLst/>
              <a:ahLst/>
              <a:cxnLst/>
              <a:rect l="l" t="t" r="r" b="b"/>
              <a:pathLst>
                <a:path w="3218688" h="658368">
                  <a:moveTo>
                    <a:pt x="0" y="0"/>
                  </a:moveTo>
                  <a:lnTo>
                    <a:pt x="3218688" y="0"/>
                  </a:lnTo>
                  <a:lnTo>
                    <a:pt x="32186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3218688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0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DATA FLOW</a:t>
              </a:r>
              <a:endParaRPr lang="en-US" sz="157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 rot="0">
            <a:off x="7394734" y="6023134"/>
            <a:ext cx="3096196" cy="2698433"/>
            <a:chOff x="0" y="0"/>
            <a:chExt cx="4128262" cy="359791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4128262" cy="3597910"/>
            </a:xfrm>
            <a:custGeom>
              <a:avLst/>
              <a:gdLst/>
              <a:ahLst/>
              <a:cxnLst/>
              <a:rect l="l" t="t" r="r" b="b"/>
              <a:pathLst>
                <a:path w="4128262" h="35979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980688" y="0"/>
                  </a:lnTo>
                  <a:cubicBezTo>
                    <a:pt x="4062222" y="0"/>
                    <a:pt x="4128262" y="66040"/>
                    <a:pt x="4128262" y="147574"/>
                  </a:cubicBezTo>
                  <a:lnTo>
                    <a:pt x="4128262" y="3450336"/>
                  </a:lnTo>
                  <a:cubicBezTo>
                    <a:pt x="4128262" y="3531870"/>
                    <a:pt x="4062222" y="3597910"/>
                    <a:pt x="3980688" y="3597910"/>
                  </a:cubicBezTo>
                  <a:lnTo>
                    <a:pt x="147574" y="3597910"/>
                  </a:lnTo>
                  <a:cubicBezTo>
                    <a:pt x="66040" y="3597910"/>
                    <a:pt x="0" y="3531870"/>
                    <a:pt x="0" y="3450336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E8871E"/>
              </a:solidFill>
              <a:prstDash val="solid"/>
              <a:miter/>
            </a:ln>
          </p:spPr>
        </p:sp>
      </p:grpSp>
      <p:grpSp>
        <p:nvGrpSpPr>
          <p:cNvPr id="102" name="Group 102"/>
          <p:cNvGrpSpPr/>
          <p:nvPr/>
        </p:nvGrpSpPr>
        <p:grpSpPr>
          <a:xfrm rot="0">
            <a:off x="7406640" y="6035040"/>
            <a:ext cx="3072384" cy="493776"/>
            <a:chOff x="0" y="0"/>
            <a:chExt cx="4096512" cy="658368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4096512" cy="658368"/>
            </a:xfrm>
            <a:custGeom>
              <a:avLst/>
              <a:gdLst/>
              <a:ahLst/>
              <a:cxnLst/>
              <a:rect l="l" t="t" r="r" b="b"/>
              <a:pathLst>
                <a:path w="4096512" h="6583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50208" y="0"/>
                  </a:lnTo>
                  <a:cubicBezTo>
                    <a:pt x="4030980" y="0"/>
                    <a:pt x="4096512" y="65532"/>
                    <a:pt x="4096512" y="146304"/>
                  </a:cubicBezTo>
                  <a:lnTo>
                    <a:pt x="4096512" y="512064"/>
                  </a:lnTo>
                  <a:cubicBezTo>
                    <a:pt x="4096512" y="592836"/>
                    <a:pt x="4030980" y="658368"/>
                    <a:pt x="3950208" y="658368"/>
                  </a:cubicBezTo>
                  <a:lnTo>
                    <a:pt x="146304" y="658368"/>
                  </a:lnTo>
                  <a:cubicBezTo>
                    <a:pt x="65532" y="658368"/>
                    <a:pt x="0" y="592836"/>
                    <a:pt x="0" y="512064"/>
                  </a:cubicBez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id="104" name="Group 104"/>
          <p:cNvGrpSpPr/>
          <p:nvPr/>
        </p:nvGrpSpPr>
        <p:grpSpPr>
          <a:xfrm rot="0">
            <a:off x="7406640" y="6281928"/>
            <a:ext cx="3072384" cy="246888"/>
            <a:chOff x="0" y="0"/>
            <a:chExt cx="4096512" cy="32918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4096512" cy="329184"/>
            </a:xfrm>
            <a:custGeom>
              <a:avLst/>
              <a:gdLst/>
              <a:ahLst/>
              <a:cxnLst/>
              <a:rect l="l" t="t" r="r" b="b"/>
              <a:pathLst>
                <a:path w="4096512" h="329184">
                  <a:moveTo>
                    <a:pt x="0" y="0"/>
                  </a:moveTo>
                  <a:lnTo>
                    <a:pt x="4096512" y="0"/>
                  </a:lnTo>
                  <a:lnTo>
                    <a:pt x="40965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id="106" name="Group 106"/>
          <p:cNvGrpSpPr/>
          <p:nvPr/>
        </p:nvGrpSpPr>
        <p:grpSpPr>
          <a:xfrm rot="0">
            <a:off x="7543800" y="6117336"/>
            <a:ext cx="329184" cy="329184"/>
            <a:chOff x="0" y="0"/>
            <a:chExt cx="438912" cy="438912"/>
          </a:xfrm>
        </p:grpSpPr>
        <p:sp>
          <p:nvSpPr>
            <p:cNvPr id="107" name="Freeform 107" descr="/home/claude/icons/aiml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08" name="Group 108"/>
          <p:cNvGrpSpPr/>
          <p:nvPr/>
        </p:nvGrpSpPr>
        <p:grpSpPr>
          <a:xfrm rot="0">
            <a:off x="7955280" y="6035040"/>
            <a:ext cx="2414016" cy="493776"/>
            <a:chOff x="0" y="0"/>
            <a:chExt cx="3218688" cy="658368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3218688" cy="658368"/>
            </a:xfrm>
            <a:custGeom>
              <a:avLst/>
              <a:gdLst/>
              <a:ahLst/>
              <a:cxnLst/>
              <a:rect l="l" t="t" r="r" b="b"/>
              <a:pathLst>
                <a:path w="3218688" h="658368">
                  <a:moveTo>
                    <a:pt x="0" y="0"/>
                  </a:moveTo>
                  <a:lnTo>
                    <a:pt x="3218688" y="0"/>
                  </a:lnTo>
                  <a:lnTo>
                    <a:pt x="32186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19050"/>
              <a:ext cx="3218688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0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AI / ML</a:t>
              </a:r>
              <a:endParaRPr lang="en-US" sz="157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 rot="0">
            <a:off x="10686574" y="6023134"/>
            <a:ext cx="3096196" cy="2698433"/>
            <a:chOff x="0" y="0"/>
            <a:chExt cx="4128262" cy="359791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4128262" cy="3597910"/>
            </a:xfrm>
            <a:custGeom>
              <a:avLst/>
              <a:gdLst/>
              <a:ahLst/>
              <a:cxnLst/>
              <a:rect l="l" t="t" r="r" b="b"/>
              <a:pathLst>
                <a:path w="4128262" h="35979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980688" y="0"/>
                  </a:lnTo>
                  <a:cubicBezTo>
                    <a:pt x="4062222" y="0"/>
                    <a:pt x="4128262" y="66040"/>
                    <a:pt x="4128262" y="147574"/>
                  </a:cubicBezTo>
                  <a:lnTo>
                    <a:pt x="4128262" y="3450336"/>
                  </a:lnTo>
                  <a:cubicBezTo>
                    <a:pt x="4128262" y="3531870"/>
                    <a:pt x="4062222" y="3597910"/>
                    <a:pt x="3980688" y="3597910"/>
                  </a:cubicBezTo>
                  <a:lnTo>
                    <a:pt x="147574" y="3597910"/>
                  </a:lnTo>
                  <a:cubicBezTo>
                    <a:pt x="66040" y="3597910"/>
                    <a:pt x="0" y="3531870"/>
                    <a:pt x="0" y="3450336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5B2C6F"/>
              </a:solidFill>
              <a:prstDash val="solid"/>
              <a:miter/>
            </a:ln>
          </p:spPr>
        </p:sp>
      </p:grpSp>
      <p:grpSp>
        <p:nvGrpSpPr>
          <p:cNvPr id="113" name="Group 113"/>
          <p:cNvGrpSpPr/>
          <p:nvPr/>
        </p:nvGrpSpPr>
        <p:grpSpPr>
          <a:xfrm rot="0">
            <a:off x="10698480" y="6035040"/>
            <a:ext cx="3072384" cy="493776"/>
            <a:chOff x="0" y="0"/>
            <a:chExt cx="4096512" cy="658368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4096512" cy="658368"/>
            </a:xfrm>
            <a:custGeom>
              <a:avLst/>
              <a:gdLst/>
              <a:ahLst/>
              <a:cxnLst/>
              <a:rect l="l" t="t" r="r" b="b"/>
              <a:pathLst>
                <a:path w="4096512" h="6583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50208" y="0"/>
                  </a:lnTo>
                  <a:cubicBezTo>
                    <a:pt x="4030980" y="0"/>
                    <a:pt x="4096512" y="65532"/>
                    <a:pt x="4096512" y="146304"/>
                  </a:cubicBezTo>
                  <a:lnTo>
                    <a:pt x="4096512" y="512064"/>
                  </a:lnTo>
                  <a:cubicBezTo>
                    <a:pt x="4096512" y="592836"/>
                    <a:pt x="4030980" y="658368"/>
                    <a:pt x="3950208" y="658368"/>
                  </a:cubicBezTo>
                  <a:lnTo>
                    <a:pt x="146304" y="658368"/>
                  </a:lnTo>
                  <a:cubicBezTo>
                    <a:pt x="65532" y="658368"/>
                    <a:pt x="0" y="592836"/>
                    <a:pt x="0" y="512064"/>
                  </a:cubicBezTo>
                  <a:close/>
                </a:path>
              </a:pathLst>
            </a:custGeom>
            <a:solidFill>
              <a:srgbClr val="5B2C6F"/>
            </a:solidFill>
          </p:spPr>
        </p:sp>
      </p:grpSp>
      <p:grpSp>
        <p:nvGrpSpPr>
          <p:cNvPr id="115" name="Group 115"/>
          <p:cNvGrpSpPr/>
          <p:nvPr/>
        </p:nvGrpSpPr>
        <p:grpSpPr>
          <a:xfrm rot="0">
            <a:off x="10698480" y="6281928"/>
            <a:ext cx="3072384" cy="246888"/>
            <a:chOff x="0" y="0"/>
            <a:chExt cx="4096512" cy="329184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4096512" cy="329184"/>
            </a:xfrm>
            <a:custGeom>
              <a:avLst/>
              <a:gdLst/>
              <a:ahLst/>
              <a:cxnLst/>
              <a:rect l="l" t="t" r="r" b="b"/>
              <a:pathLst>
                <a:path w="4096512" h="329184">
                  <a:moveTo>
                    <a:pt x="0" y="0"/>
                  </a:moveTo>
                  <a:lnTo>
                    <a:pt x="4096512" y="0"/>
                  </a:lnTo>
                  <a:lnTo>
                    <a:pt x="40965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5B2C6F"/>
            </a:solidFill>
          </p:spPr>
        </p:sp>
      </p:grpSp>
      <p:grpSp>
        <p:nvGrpSpPr>
          <p:cNvPr id="117" name="Group 117"/>
          <p:cNvGrpSpPr/>
          <p:nvPr/>
        </p:nvGrpSpPr>
        <p:grpSpPr>
          <a:xfrm rot="0">
            <a:off x="10835640" y="6117336"/>
            <a:ext cx="329184" cy="329184"/>
            <a:chOff x="0" y="0"/>
            <a:chExt cx="438912" cy="438912"/>
          </a:xfrm>
        </p:grpSpPr>
        <p:sp>
          <p:nvSpPr>
            <p:cNvPr id="118" name="Freeform 118" descr="/home/claude/icons/hardware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19" name="Group 119"/>
          <p:cNvGrpSpPr/>
          <p:nvPr/>
        </p:nvGrpSpPr>
        <p:grpSpPr>
          <a:xfrm rot="0">
            <a:off x="11247120" y="6035040"/>
            <a:ext cx="2414016" cy="493776"/>
            <a:chOff x="0" y="0"/>
            <a:chExt cx="3218688" cy="658368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3218688" cy="658368"/>
            </a:xfrm>
            <a:custGeom>
              <a:avLst/>
              <a:gdLst/>
              <a:ahLst/>
              <a:cxnLst/>
              <a:rect l="l" t="t" r="r" b="b"/>
              <a:pathLst>
                <a:path w="3218688" h="658368">
                  <a:moveTo>
                    <a:pt x="0" y="0"/>
                  </a:moveTo>
                  <a:lnTo>
                    <a:pt x="3218688" y="0"/>
                  </a:lnTo>
                  <a:lnTo>
                    <a:pt x="32186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19050"/>
              <a:ext cx="3218688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0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HARDWARE</a:t>
              </a:r>
              <a:endParaRPr lang="en-US" sz="157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 rot="0">
            <a:off x="13973651" y="6078760"/>
            <a:ext cx="3096196" cy="2698433"/>
            <a:chOff x="0" y="0"/>
            <a:chExt cx="4128262" cy="359791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4128262" cy="3597910"/>
            </a:xfrm>
            <a:custGeom>
              <a:avLst/>
              <a:gdLst/>
              <a:ahLst/>
              <a:cxnLst/>
              <a:rect l="l" t="t" r="r" b="b"/>
              <a:pathLst>
                <a:path w="4128262" h="359791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980688" y="0"/>
                  </a:lnTo>
                  <a:cubicBezTo>
                    <a:pt x="4062222" y="0"/>
                    <a:pt x="4128262" y="66040"/>
                    <a:pt x="4128262" y="147574"/>
                  </a:cubicBezTo>
                  <a:lnTo>
                    <a:pt x="4128262" y="3450336"/>
                  </a:lnTo>
                  <a:cubicBezTo>
                    <a:pt x="4128262" y="3531870"/>
                    <a:pt x="4062222" y="3597910"/>
                    <a:pt x="3980688" y="3597910"/>
                  </a:cubicBezTo>
                  <a:lnTo>
                    <a:pt x="147574" y="3597910"/>
                  </a:lnTo>
                  <a:cubicBezTo>
                    <a:pt x="66040" y="3597910"/>
                    <a:pt x="0" y="3531870"/>
                    <a:pt x="0" y="3450336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E8449"/>
              </a:solidFill>
              <a:prstDash val="solid"/>
              <a:miter/>
            </a:ln>
          </p:spPr>
        </p:sp>
      </p:grpSp>
      <p:grpSp>
        <p:nvGrpSpPr>
          <p:cNvPr id="124" name="Group 124"/>
          <p:cNvGrpSpPr/>
          <p:nvPr/>
        </p:nvGrpSpPr>
        <p:grpSpPr>
          <a:xfrm rot="0">
            <a:off x="13990320" y="6035040"/>
            <a:ext cx="3072384" cy="493776"/>
            <a:chOff x="0" y="0"/>
            <a:chExt cx="4096512" cy="658368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4096512" cy="658368"/>
            </a:xfrm>
            <a:custGeom>
              <a:avLst/>
              <a:gdLst/>
              <a:ahLst/>
              <a:cxnLst/>
              <a:rect l="l" t="t" r="r" b="b"/>
              <a:pathLst>
                <a:path w="4096512" h="6583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50208" y="0"/>
                  </a:lnTo>
                  <a:cubicBezTo>
                    <a:pt x="4030980" y="0"/>
                    <a:pt x="4096512" y="65532"/>
                    <a:pt x="4096512" y="146304"/>
                  </a:cubicBezTo>
                  <a:lnTo>
                    <a:pt x="4096512" y="512064"/>
                  </a:lnTo>
                  <a:cubicBezTo>
                    <a:pt x="4096512" y="592836"/>
                    <a:pt x="4030980" y="658368"/>
                    <a:pt x="3950208" y="658368"/>
                  </a:cubicBezTo>
                  <a:lnTo>
                    <a:pt x="146304" y="658368"/>
                  </a:lnTo>
                  <a:cubicBezTo>
                    <a:pt x="65532" y="658368"/>
                    <a:pt x="0" y="592836"/>
                    <a:pt x="0" y="512064"/>
                  </a:cubicBez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id="126" name="Group 126"/>
          <p:cNvGrpSpPr/>
          <p:nvPr/>
        </p:nvGrpSpPr>
        <p:grpSpPr>
          <a:xfrm rot="0">
            <a:off x="13990320" y="6281928"/>
            <a:ext cx="3072384" cy="246888"/>
            <a:chOff x="0" y="0"/>
            <a:chExt cx="4096512" cy="329184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4096512" cy="329184"/>
            </a:xfrm>
            <a:custGeom>
              <a:avLst/>
              <a:gdLst/>
              <a:ahLst/>
              <a:cxnLst/>
              <a:rect l="l" t="t" r="r" b="b"/>
              <a:pathLst>
                <a:path w="4096512" h="329184">
                  <a:moveTo>
                    <a:pt x="0" y="0"/>
                  </a:moveTo>
                  <a:lnTo>
                    <a:pt x="4096512" y="0"/>
                  </a:lnTo>
                  <a:lnTo>
                    <a:pt x="40965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id="128" name="Group 128"/>
          <p:cNvGrpSpPr/>
          <p:nvPr/>
        </p:nvGrpSpPr>
        <p:grpSpPr>
          <a:xfrm rot="0">
            <a:off x="14127480" y="6117336"/>
            <a:ext cx="329184" cy="329184"/>
            <a:chOff x="0" y="0"/>
            <a:chExt cx="438912" cy="438912"/>
          </a:xfrm>
        </p:grpSpPr>
        <p:sp>
          <p:nvSpPr>
            <p:cNvPr id="129" name="Freeform 129" descr="/home/claude/icons/proto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130" name="Group 130"/>
          <p:cNvGrpSpPr/>
          <p:nvPr/>
        </p:nvGrpSpPr>
        <p:grpSpPr>
          <a:xfrm rot="0">
            <a:off x="14538960" y="6035040"/>
            <a:ext cx="2414016" cy="493776"/>
            <a:chOff x="0" y="0"/>
            <a:chExt cx="3218688" cy="658368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3218688" cy="658368"/>
            </a:xfrm>
            <a:custGeom>
              <a:avLst/>
              <a:gdLst/>
              <a:ahLst/>
              <a:cxnLst/>
              <a:rect l="l" t="t" r="r" b="b"/>
              <a:pathLst>
                <a:path w="3218688" h="658368">
                  <a:moveTo>
                    <a:pt x="0" y="0"/>
                  </a:moveTo>
                  <a:lnTo>
                    <a:pt x="3218688" y="0"/>
                  </a:lnTo>
                  <a:lnTo>
                    <a:pt x="32186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19050"/>
              <a:ext cx="3218688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0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PROTOTYPE EVIDENCE</a:t>
              </a:r>
              <a:endParaRPr lang="en-US" sz="157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 rot="0">
            <a:off x="14743281" y="128823"/>
            <a:ext cx="3374774" cy="1479080"/>
            <a:chOff x="0" y="0"/>
            <a:chExt cx="4499699" cy="1972107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4499737" cy="1972145"/>
            </a:xfrm>
            <a:custGeom>
              <a:avLst/>
              <a:gdLst/>
              <a:ahLst/>
              <a:cxnLst/>
              <a:rect l="l" t="t" r="r" b="b"/>
              <a:pathLst>
                <a:path w="4499737" h="1972145">
                  <a:moveTo>
                    <a:pt x="0" y="0"/>
                  </a:moveTo>
                  <a:lnTo>
                    <a:pt x="4499737" y="0"/>
                  </a:lnTo>
                  <a:lnTo>
                    <a:pt x="4499737" y="1972145"/>
                  </a:lnTo>
                  <a:lnTo>
                    <a:pt x="0" y="1972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868" b="-3866"/>
              </a:stretch>
            </a:blipFill>
          </p:spPr>
        </p:sp>
      </p:grpSp>
      <p:grpSp>
        <p:nvGrpSpPr>
          <p:cNvPr id="135" name="Group 135"/>
          <p:cNvGrpSpPr/>
          <p:nvPr/>
        </p:nvGrpSpPr>
        <p:grpSpPr>
          <a:xfrm rot="0">
            <a:off x="0" y="9692226"/>
            <a:ext cx="18288000" cy="594774"/>
            <a:chOff x="0" y="0"/>
            <a:chExt cx="24384000" cy="793032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24384000" cy="793032"/>
            </a:xfrm>
            <a:custGeom>
              <a:avLst/>
              <a:gdLst/>
              <a:ahLst/>
              <a:cxnLst/>
              <a:rect l="l" t="t" r="r" b="b"/>
              <a:pathLst>
                <a:path w="24384000" h="793032">
                  <a:moveTo>
                    <a:pt x="0" y="0"/>
                  </a:moveTo>
                  <a:lnTo>
                    <a:pt x="24384000" y="0"/>
                  </a:lnTo>
                  <a:lnTo>
                    <a:pt x="24384000" y="793032"/>
                  </a:lnTo>
                  <a:lnTo>
                    <a:pt x="0" y="79303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37" name="Group 137"/>
          <p:cNvGrpSpPr/>
          <p:nvPr/>
        </p:nvGrpSpPr>
        <p:grpSpPr>
          <a:xfrm rot="0">
            <a:off x="206733" y="119965"/>
            <a:ext cx="2096374" cy="1035658"/>
            <a:chOff x="0" y="0"/>
            <a:chExt cx="2795165" cy="1380877"/>
          </a:xfrm>
        </p:grpSpPr>
        <p:sp>
          <p:nvSpPr>
            <p:cNvPr id="138" name="Freeform 138" descr="Your startup LOGO"/>
            <p:cNvSpPr/>
            <p:nvPr/>
          </p:nvSpPr>
          <p:spPr>
            <a:xfrm>
              <a:off x="0" y="0"/>
              <a:ext cx="2795124" cy="1380890"/>
            </a:xfrm>
            <a:custGeom>
              <a:avLst/>
              <a:gdLst/>
              <a:ahLst/>
              <a:cxnLst/>
              <a:rect l="l" t="t" r="r" b="b"/>
              <a:pathLst>
                <a:path w="2795124" h="1380890">
                  <a:moveTo>
                    <a:pt x="0" y="690444"/>
                  </a:moveTo>
                  <a:cubicBezTo>
                    <a:pt x="0" y="309157"/>
                    <a:pt x="625755" y="0"/>
                    <a:pt x="1397562" y="0"/>
                  </a:cubicBezTo>
                  <a:cubicBezTo>
                    <a:pt x="2169368" y="0"/>
                    <a:pt x="2795124" y="309157"/>
                    <a:pt x="2795124" y="690444"/>
                  </a:cubicBezTo>
                  <a:cubicBezTo>
                    <a:pt x="2795124" y="1071730"/>
                    <a:pt x="2169368" y="1380890"/>
                    <a:pt x="1397562" y="1380890"/>
                  </a:cubicBezTo>
                  <a:cubicBezTo>
                    <a:pt x="625755" y="1380890"/>
                    <a:pt x="0" y="1071730"/>
                    <a:pt x="0" y="69044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0" y="-57150"/>
              <a:ext cx="2795165" cy="1438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id="140" name="Group 140"/>
          <p:cNvGrpSpPr/>
          <p:nvPr/>
        </p:nvGrpSpPr>
        <p:grpSpPr>
          <a:xfrm rot="0">
            <a:off x="440093" y="-592505"/>
            <a:ext cx="1863014" cy="2415056"/>
            <a:chOff x="0" y="0"/>
            <a:chExt cx="2606431" cy="3378759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2606431" cy="3378759"/>
            </a:xfrm>
            <a:custGeom>
              <a:avLst/>
              <a:gdLst/>
              <a:ahLst/>
              <a:cxnLst/>
              <a:rect l="l" t="t" r="r" b="b"/>
              <a:pathLst>
                <a:path w="2606431" h="3378759">
                  <a:moveTo>
                    <a:pt x="0" y="0"/>
                  </a:moveTo>
                  <a:lnTo>
                    <a:pt x="2606431" y="0"/>
                  </a:lnTo>
                  <a:lnTo>
                    <a:pt x="2606431" y="3378759"/>
                  </a:lnTo>
                  <a:lnTo>
                    <a:pt x="0" y="3378759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8134" r="-461319" b="-610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-9525"/>
              <a:ext cx="2606431" cy="33882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000000"/>
                  </a:solidFill>
                  <a:latin typeface="Cambria Bold" panose="02040803050406030204"/>
                  <a:ea typeface="Cambria Bold" panose="02040803050406030204"/>
                  <a:cs typeface="Cambria Bold" panose="02040803050406030204"/>
                  <a:sym typeface="Cambria Bold" panose="02040803050406030204"/>
                </a:rPr>
                <a:t>NEXORA</a:t>
              </a:r>
              <a:endParaRPr lang="en-US" sz="3300" b="1">
                <a:solidFill>
                  <a:srgbClr val="000000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endParaRPr>
            </a:p>
          </p:txBody>
        </p:sp>
      </p:grpSp>
      <p:sp>
        <p:nvSpPr>
          <p:cNvPr id="143" name="TextBox 143"/>
          <p:cNvSpPr txBox="1"/>
          <p:nvPr/>
        </p:nvSpPr>
        <p:spPr>
          <a:xfrm>
            <a:off x="960120" y="3735289"/>
            <a:ext cx="2715768" cy="1051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4480" lvl="1" indent="-142240" algn="l">
              <a:lnSpc>
                <a:spcPts val="2115"/>
              </a:lnSpc>
              <a:buFont typeface="Arial" panose="020B0604020202020204"/>
              <a:buChar char="•"/>
            </a:pPr>
            <a:r>
              <a:rPr lang="en-US" sz="157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Satellite imagery</a:t>
            </a:r>
            <a:endParaRPr lang="en-US" sz="157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284480" lvl="1" indent="-142240" algn="l">
              <a:lnSpc>
                <a:spcPts val="2115"/>
              </a:lnSpc>
              <a:buFont typeface="Arial" panose="020B0604020202020204"/>
              <a:buChar char="•"/>
            </a:pPr>
            <a:r>
              <a:rPr lang="en-US" sz="157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Ocean &amp; wind data</a:t>
            </a:r>
            <a:endParaRPr lang="en-US" sz="157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284480" lvl="1" indent="-142240" algn="l">
              <a:lnSpc>
                <a:spcPts val="2115"/>
              </a:lnSpc>
              <a:buFont typeface="Arial" panose="020B0604020202020204"/>
              <a:buChar char="•"/>
            </a:pPr>
            <a:r>
              <a:rPr lang="en-US" sz="157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Navigation data (APIs / sensors)</a:t>
            </a:r>
            <a:endParaRPr lang="en-US" sz="157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44" name="TextBox 144"/>
          <p:cNvSpPr txBox="1"/>
          <p:nvPr/>
        </p:nvSpPr>
        <p:spPr>
          <a:xfrm>
            <a:off x="4334256" y="3492246"/>
            <a:ext cx="2633472" cy="153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6225" lvl="1" indent="-137795" algn="l">
              <a:lnSpc>
                <a:spcPts val="2050"/>
              </a:lnSpc>
              <a:buFont typeface="Arial" panose="020B0604020202020204"/>
              <a:buChar char="•"/>
            </a:pPr>
            <a:r>
              <a:rPr lang="en-US" sz="15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Preprocessing &amp; GIS fusion</a:t>
            </a:r>
            <a:endParaRPr lang="en-US" sz="15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276225" lvl="1" indent="-137795" algn="l">
              <a:lnSpc>
                <a:spcPts val="2050"/>
              </a:lnSpc>
              <a:buFont typeface="Arial" panose="020B0604020202020204"/>
              <a:buChar char="•"/>
            </a:pPr>
            <a:r>
              <a:rPr lang="en-US" sz="15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Sea-ice &amp; iceberg analysis</a:t>
            </a:r>
            <a:endParaRPr lang="en-US" sz="15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276225" lvl="1" indent="-137795" algn="l">
              <a:lnSpc>
                <a:spcPts val="2050"/>
              </a:lnSpc>
              <a:buFont typeface="Arial" panose="020B0604020202020204"/>
              <a:buChar char="•"/>
            </a:pPr>
            <a:r>
              <a:rPr lang="en-US" sz="15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Trajectory prediction &amp; risk scoring</a:t>
            </a:r>
            <a:endParaRPr lang="en-US" sz="15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45" name="TextBox 145"/>
          <p:cNvSpPr txBox="1"/>
          <p:nvPr/>
        </p:nvSpPr>
        <p:spPr>
          <a:xfrm>
            <a:off x="7626096" y="3454146"/>
            <a:ext cx="2633472" cy="157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525" b="1" i="1">
                <a:solidFill>
                  <a:srgbClr val="000000"/>
                </a:solidFill>
                <a:latin typeface="Calibri (MS) Bold Italics" panose="020F07020304040A0204"/>
                <a:ea typeface="Calibri (MS) Bold Italics" panose="020F07020304040A0204"/>
                <a:cs typeface="Calibri (MS) Bold Italics" panose="020F07020304040A0204"/>
                <a:sym typeface="Calibri (MS) Bold Italics" panose="020F07020304040A0204"/>
              </a:rPr>
              <a:t>Add your database / storage choice here</a:t>
            </a:r>
            <a:endParaRPr lang="en-US" sz="1525" b="1" i="1">
              <a:solidFill>
                <a:srgbClr val="000000"/>
              </a:solidFill>
              <a:latin typeface="Calibri (MS) Bold Italics" panose="020F07020304040A0204"/>
              <a:ea typeface="Calibri (MS) Bold Italics" panose="020F07020304040A0204"/>
              <a:cs typeface="Calibri (MS) Bold Italics" panose="020F07020304040A0204"/>
              <a:sym typeface="Calibri (MS) Bold Italics" panose="020F07020304040A0204"/>
            </a:endParaRPr>
          </a:p>
          <a:p>
            <a:pPr algn="l">
              <a:lnSpc>
                <a:spcPts val="2050"/>
              </a:lnSpc>
            </a:pPr>
            <a:r>
              <a:rPr lang="en-US" sz="1525" b="1" i="1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(e.g. spatial + time-series store for drift history, ice concentration, risk scores)</a:t>
            </a:r>
            <a:endParaRPr lang="en-US" sz="1525" b="1" i="1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46" name="TextBox 146"/>
          <p:cNvSpPr txBox="1"/>
          <p:nvPr/>
        </p:nvSpPr>
        <p:spPr>
          <a:xfrm>
            <a:off x="10645581" y="3708094"/>
            <a:ext cx="3125283" cy="1174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8770" lvl="1" indent="-159385" algn="l">
              <a:lnSpc>
                <a:spcPts val="2365"/>
              </a:lnSpc>
              <a:buFont typeface="Arial" panose="020B0604020202020204"/>
              <a:buChar char="•"/>
            </a:pPr>
            <a:r>
              <a:rPr lang="en-US" sz="17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Real-time alerts</a:t>
            </a:r>
            <a:endParaRPr lang="en-US" sz="176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318770" lvl="1" indent="-159385" algn="l">
              <a:lnSpc>
                <a:spcPts val="2365"/>
              </a:lnSpc>
              <a:buFont typeface="Arial" panose="020B0604020202020204"/>
              <a:buChar char="•"/>
            </a:pPr>
            <a:r>
              <a:rPr lang="en-US" sz="17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Risk visualization</a:t>
            </a:r>
            <a:endParaRPr lang="en-US" sz="176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318770" lvl="1" indent="-159385" algn="l">
              <a:lnSpc>
                <a:spcPts val="2365"/>
              </a:lnSpc>
              <a:buFont typeface="Arial" panose="020B0604020202020204"/>
              <a:buChar char="•"/>
            </a:pPr>
            <a:r>
              <a:rPr lang="en-US" sz="17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Route recommendations</a:t>
            </a:r>
            <a:endParaRPr lang="en-US" sz="176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47" name="TextBox 147"/>
          <p:cNvSpPr txBox="1"/>
          <p:nvPr/>
        </p:nvSpPr>
        <p:spPr>
          <a:xfrm>
            <a:off x="14209776" y="3492246"/>
            <a:ext cx="2633472" cy="170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2420" lvl="1" indent="-156210" algn="l">
              <a:lnSpc>
                <a:spcPts val="2320"/>
              </a:lnSpc>
              <a:buFont typeface="Arial" panose="020B0604020202020204"/>
              <a:buChar char="•"/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Vessel navigation officers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312420" lvl="1" indent="-156210" algn="l">
              <a:lnSpc>
                <a:spcPts val="2320"/>
              </a:lnSpc>
              <a:buFont typeface="Arial" panose="020B0604020202020204"/>
              <a:buChar char="•"/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Polar research teams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312420" lvl="1" indent="-156210" algn="l">
              <a:lnSpc>
                <a:spcPts val="2320"/>
              </a:lnSpc>
              <a:buFont typeface="Arial" panose="020B0604020202020204"/>
              <a:buChar char="•"/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Route optimization control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48" name="TextBox 148"/>
          <p:cNvSpPr txBox="1"/>
          <p:nvPr/>
        </p:nvSpPr>
        <p:spPr>
          <a:xfrm>
            <a:off x="1014984" y="6646926"/>
            <a:ext cx="2688336" cy="1160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Add your frontend, backend,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database, cloud &amp; API stack here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49" name="TextBox 149"/>
          <p:cNvSpPr txBox="1"/>
          <p:nvPr/>
        </p:nvSpPr>
        <p:spPr>
          <a:xfrm>
            <a:off x="4306824" y="6646926"/>
            <a:ext cx="2688336" cy="175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Satellite / ocean / wind APIs →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Preprocessing &amp; GIS fusion →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Prediction models → Dashboard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50" name="TextBox 150"/>
          <p:cNvSpPr txBox="1"/>
          <p:nvPr/>
        </p:nvSpPr>
        <p:spPr>
          <a:xfrm>
            <a:off x="7598664" y="6646926"/>
            <a:ext cx="2688336" cy="1456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Sea-ice drift &amp; iceberg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detection / trajectory models,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trained on satellite + ocean data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51" name="TextBox 151"/>
          <p:cNvSpPr txBox="1"/>
          <p:nvPr/>
        </p:nvSpPr>
        <p:spPr>
          <a:xfrm>
            <a:off x="10890504" y="6646926"/>
            <a:ext cx="2688336" cy="1456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satellite / ocean feeds 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imaginary satellite used</a:t>
            </a:r>
            <a:endParaRPr lang="en-US" sz="1725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52" name="TextBox 152"/>
          <p:cNvSpPr txBox="1"/>
          <p:nvPr/>
        </p:nvSpPr>
        <p:spPr>
          <a:xfrm>
            <a:off x="17460468" y="9757556"/>
            <a:ext cx="157192" cy="39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3</a:t>
            </a:r>
            <a:endParaRPr lang="en-US" sz="2225">
              <a:solidFill>
                <a:srgbClr val="000000"/>
              </a:solidFill>
              <a:latin typeface="Arial MT Pro" panose="020B0502020202020204"/>
              <a:ea typeface="Arial MT Pro" panose="020B0502020202020204"/>
              <a:cs typeface="Arial MT Pro" panose="020B0502020202020204"/>
              <a:sym typeface="Arial MT Pro" panose="020B0502020202020204"/>
            </a:endParaRPr>
          </a:p>
        </p:txBody>
      </p:sp>
      <p:grpSp>
        <p:nvGrpSpPr>
          <p:cNvPr id="153" name="Group 153"/>
          <p:cNvGrpSpPr/>
          <p:nvPr/>
        </p:nvGrpSpPr>
        <p:grpSpPr>
          <a:xfrm rot="0">
            <a:off x="13982795" y="6557391"/>
            <a:ext cx="3086672" cy="2164175"/>
            <a:chOff x="0" y="0"/>
            <a:chExt cx="4115562" cy="2885567"/>
          </a:xfrm>
        </p:grpSpPr>
        <p:sp>
          <p:nvSpPr>
            <p:cNvPr id="154" name="Freeform 154"/>
            <p:cNvSpPr/>
            <p:nvPr/>
          </p:nvSpPr>
          <p:spPr>
            <a:xfrm>
              <a:off x="0" y="0"/>
              <a:ext cx="4115562" cy="2885567"/>
            </a:xfrm>
            <a:custGeom>
              <a:avLst/>
              <a:gdLst/>
              <a:ahLst/>
              <a:cxnLst/>
              <a:rect l="l" t="t" r="r" b="b"/>
              <a:pathLst>
                <a:path w="4115562" h="2885567">
                  <a:moveTo>
                    <a:pt x="0" y="105938"/>
                  </a:moveTo>
                  <a:cubicBezTo>
                    <a:pt x="0" y="47388"/>
                    <a:pt x="65786" y="0"/>
                    <a:pt x="147066" y="0"/>
                  </a:cubicBezTo>
                  <a:lnTo>
                    <a:pt x="3968496" y="0"/>
                  </a:lnTo>
                  <a:cubicBezTo>
                    <a:pt x="4049649" y="0"/>
                    <a:pt x="4115562" y="47388"/>
                    <a:pt x="4115562" y="105938"/>
                  </a:cubicBezTo>
                  <a:lnTo>
                    <a:pt x="4115562" y="2779629"/>
                  </a:lnTo>
                  <a:cubicBezTo>
                    <a:pt x="4115562" y="2838087"/>
                    <a:pt x="4049776" y="2885567"/>
                    <a:pt x="3968496" y="2885567"/>
                  </a:cubicBezTo>
                  <a:lnTo>
                    <a:pt x="147066" y="2885567"/>
                  </a:lnTo>
                  <a:cubicBezTo>
                    <a:pt x="65786" y="2885567"/>
                    <a:pt x="0" y="2838179"/>
                    <a:pt x="0" y="2779629"/>
                  </a:cubicBezTo>
                  <a:close/>
                </a:path>
              </a:pathLst>
            </a:custGeom>
            <a:blipFill>
              <a:blip r:embed="rId13"/>
              <a:stretch>
                <a:fillRect t="-64529" r="-57359" b="-23102"/>
              </a:stretch>
            </a:blip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570714" y="-1072079"/>
            <a:ext cx="7543800" cy="3264947"/>
            <a:chOff x="0" y="0"/>
            <a:chExt cx="10058400" cy="43532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0" cy="4353262"/>
            </a:xfrm>
            <a:custGeom>
              <a:avLst/>
              <a:gdLst/>
              <a:ahLst/>
              <a:cxnLst/>
              <a:rect l="l" t="t" r="r" b="b"/>
              <a:pathLst>
                <a:path w="10058400" h="4353262">
                  <a:moveTo>
                    <a:pt x="0" y="0"/>
                  </a:moveTo>
                  <a:lnTo>
                    <a:pt x="10058400" y="0"/>
                  </a:lnTo>
                  <a:lnTo>
                    <a:pt x="10058400" y="4353262"/>
                  </a:lnTo>
                  <a:lnTo>
                    <a:pt x="0" y="435326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1353" r="-81818" b="76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058400" cy="43627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40"/>
                </a:lnSpc>
              </a:pPr>
              <a:r>
                <a:rPr lang="en-US" sz="4450" b="1">
                  <a:solidFill>
                    <a:srgbClr val="000000"/>
                  </a:solidFill>
                  <a:latin typeface="Cambria Bold" panose="02040803050406030204"/>
                  <a:ea typeface="Cambria Bold" panose="02040803050406030204"/>
                  <a:cs typeface="Cambria Bold" panose="02040803050406030204"/>
                  <a:sym typeface="Cambria Bold" panose="02040803050406030204"/>
                </a:rPr>
                <a:t>FEASIBILITY AND VIABILITY</a:t>
              </a:r>
              <a:endParaRPr lang="en-US" sz="4450" b="1">
                <a:solidFill>
                  <a:srgbClr val="000000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354235" y="1454888"/>
            <a:ext cx="3086672" cy="3745040"/>
            <a:chOff x="0" y="0"/>
            <a:chExt cx="4115562" cy="49933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5562" cy="4993386"/>
            </a:xfrm>
            <a:custGeom>
              <a:avLst/>
              <a:gdLst/>
              <a:ahLst/>
              <a:cxnLst/>
              <a:rect l="l" t="t" r="r" b="b"/>
              <a:pathLst>
                <a:path w="4115562" h="499338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68623" y="0"/>
                  </a:lnTo>
                  <a:cubicBezTo>
                    <a:pt x="4049776" y="0"/>
                    <a:pt x="4115562" y="65786"/>
                    <a:pt x="4115562" y="146939"/>
                  </a:cubicBezTo>
                  <a:lnTo>
                    <a:pt x="4115562" y="4846447"/>
                  </a:lnTo>
                  <a:cubicBezTo>
                    <a:pt x="4115562" y="4927600"/>
                    <a:pt x="4049776" y="4993386"/>
                    <a:pt x="3968623" y="4993386"/>
                  </a:cubicBezTo>
                  <a:lnTo>
                    <a:pt x="146939" y="4993386"/>
                  </a:lnTo>
                  <a:cubicBezTo>
                    <a:pt x="65786" y="4993386"/>
                    <a:pt x="0" y="4927600"/>
                    <a:pt x="0" y="4846447"/>
                  </a:cubicBezTo>
                  <a:close/>
                </a:path>
              </a:pathLst>
            </a:custGeom>
            <a:solidFill>
              <a:srgbClr val="F6F8FA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 rot="0">
            <a:off x="1234440" y="1659636"/>
            <a:ext cx="685800" cy="685800"/>
            <a:chOff x="0" y="0"/>
            <a:chExt cx="91440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9" name="Group 9"/>
          <p:cNvGrpSpPr/>
          <p:nvPr/>
        </p:nvGrpSpPr>
        <p:grpSpPr>
          <a:xfrm rot="0">
            <a:off x="1310965" y="1813560"/>
            <a:ext cx="384048" cy="384048"/>
            <a:chOff x="0" y="0"/>
            <a:chExt cx="512064" cy="512064"/>
          </a:xfrm>
        </p:grpSpPr>
        <p:sp>
          <p:nvSpPr>
            <p:cNvPr id="10" name="Freeform 10" descr="/home/claude/icons/technical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54235" y="2397849"/>
            <a:ext cx="2907792" cy="71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2225" b="1">
                <a:solidFill>
                  <a:srgbClr val="065A82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TECHNICAL</a:t>
            </a:r>
            <a:endParaRPr lang="en-US" sz="2225" b="1">
              <a:solidFill>
                <a:srgbClr val="065A82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2670"/>
              </a:lnSpc>
            </a:pPr>
            <a:r>
              <a:rPr lang="en-US" sz="2225" b="1">
                <a:solidFill>
                  <a:srgbClr val="065A82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FEASIBILITY</a:t>
            </a:r>
            <a:endParaRPr lang="en-US" sz="2225" b="1">
              <a:solidFill>
                <a:srgbClr val="065A82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76846" y="3207160"/>
            <a:ext cx="2688336" cy="175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05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Proven: Satellite APIs, Python / ML,</a:t>
            </a:r>
            <a:endParaRPr lang="en-US" sz="205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830"/>
              </a:lnSpc>
            </a:pPr>
            <a:r>
              <a:rPr lang="en-US" sz="205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PostGIS, Kubernetes</a:t>
            </a:r>
            <a:endParaRPr lang="en-US" sz="205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830"/>
              </a:lnSpc>
            </a:pPr>
          </a:p>
        </p:txBody>
      </p:sp>
      <p:grpSp>
        <p:nvGrpSpPr>
          <p:cNvPr id="13" name="Group 13"/>
          <p:cNvGrpSpPr/>
          <p:nvPr/>
        </p:nvGrpSpPr>
        <p:grpSpPr>
          <a:xfrm rot="0">
            <a:off x="3634454" y="1372740"/>
            <a:ext cx="3086672" cy="3745040"/>
            <a:chOff x="0" y="0"/>
            <a:chExt cx="4115562" cy="49933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15562" cy="4993386"/>
            </a:xfrm>
            <a:custGeom>
              <a:avLst/>
              <a:gdLst/>
              <a:ahLst/>
              <a:cxnLst/>
              <a:rect l="l" t="t" r="r" b="b"/>
              <a:pathLst>
                <a:path w="4115562" h="499338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68623" y="0"/>
                  </a:lnTo>
                  <a:cubicBezTo>
                    <a:pt x="4049776" y="0"/>
                    <a:pt x="4115562" y="65786"/>
                    <a:pt x="4115562" y="146939"/>
                  </a:cubicBezTo>
                  <a:lnTo>
                    <a:pt x="4115562" y="4846447"/>
                  </a:lnTo>
                  <a:cubicBezTo>
                    <a:pt x="4115562" y="4927600"/>
                    <a:pt x="4049776" y="4993386"/>
                    <a:pt x="3968623" y="4993386"/>
                  </a:cubicBezTo>
                  <a:lnTo>
                    <a:pt x="146939" y="4993386"/>
                  </a:lnTo>
                  <a:cubicBezTo>
                    <a:pt x="65786" y="4993386"/>
                    <a:pt x="0" y="4927600"/>
                    <a:pt x="0" y="4846447"/>
                  </a:cubicBezTo>
                  <a:close/>
                </a:path>
              </a:pathLst>
            </a:custGeom>
            <a:solidFill>
              <a:srgbClr val="F6F8FA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 rot="0">
            <a:off x="4834890" y="1659636"/>
            <a:ext cx="685800" cy="685800"/>
            <a:chOff x="0" y="0"/>
            <a:chExt cx="914400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4965954" y="1729740"/>
            <a:ext cx="423672" cy="423672"/>
            <a:chOff x="0" y="0"/>
            <a:chExt cx="512064" cy="512064"/>
          </a:xfrm>
        </p:grpSpPr>
        <p:sp>
          <p:nvSpPr>
            <p:cNvPr id="18" name="Freeform 18" descr="/home/claude/icons/store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3813048" y="2341754"/>
            <a:ext cx="2907792" cy="676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125" b="1">
                <a:solidFill>
                  <a:srgbClr val="1C7293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DATA</a:t>
            </a:r>
            <a:endParaRPr lang="en-US" sz="2125" b="1">
              <a:solidFill>
                <a:srgbClr val="1C7293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2550"/>
              </a:lnSpc>
            </a:pPr>
            <a:r>
              <a:rPr lang="en-US" sz="2125" b="1">
                <a:solidFill>
                  <a:srgbClr val="1C7293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FEASIBILITY</a:t>
            </a:r>
            <a:endParaRPr lang="en-US" sz="2125" b="1">
              <a:solidFill>
                <a:srgbClr val="1C7293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881628" y="2999274"/>
            <a:ext cx="2688336" cy="21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05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Sources: Satellite (SAR / optical),</a:t>
            </a:r>
            <a:endParaRPr lang="en-US" sz="205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830"/>
              </a:lnSpc>
            </a:pPr>
            <a:r>
              <a:rPr lang="en-US" sz="205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buoy, and weather data</a:t>
            </a:r>
            <a:endParaRPr lang="en-US" sz="205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830"/>
              </a:lnSpc>
            </a:pPr>
            <a:r>
              <a:rPr lang="en-US" sz="205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Accessible via open APIs</a:t>
            </a:r>
            <a:endParaRPr lang="en-US" sz="205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21" name="Group 21"/>
          <p:cNvGrpSpPr/>
          <p:nvPr/>
        </p:nvGrpSpPr>
        <p:grpSpPr>
          <a:xfrm rot="0">
            <a:off x="7092601" y="1372740"/>
            <a:ext cx="3086672" cy="3745040"/>
            <a:chOff x="0" y="0"/>
            <a:chExt cx="4115562" cy="49933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15562" cy="4993386"/>
            </a:xfrm>
            <a:custGeom>
              <a:avLst/>
              <a:gdLst/>
              <a:ahLst/>
              <a:cxnLst/>
              <a:rect l="l" t="t" r="r" b="b"/>
              <a:pathLst>
                <a:path w="4115562" h="499338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68623" y="0"/>
                  </a:lnTo>
                  <a:cubicBezTo>
                    <a:pt x="4049776" y="0"/>
                    <a:pt x="4115562" y="65786"/>
                    <a:pt x="4115562" y="146939"/>
                  </a:cubicBezTo>
                  <a:lnTo>
                    <a:pt x="4115562" y="4846447"/>
                  </a:lnTo>
                  <a:cubicBezTo>
                    <a:pt x="4115562" y="4927600"/>
                    <a:pt x="4049776" y="4993386"/>
                    <a:pt x="3968623" y="4993386"/>
                  </a:cubicBezTo>
                  <a:lnTo>
                    <a:pt x="146939" y="4993386"/>
                  </a:lnTo>
                  <a:cubicBezTo>
                    <a:pt x="65786" y="4993386"/>
                    <a:pt x="0" y="4927600"/>
                    <a:pt x="0" y="4846447"/>
                  </a:cubicBezTo>
                  <a:close/>
                </a:path>
              </a:pathLst>
            </a:custGeom>
            <a:solidFill>
              <a:srgbClr val="F6F8FA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 rot="0">
            <a:off x="8293036" y="1618488"/>
            <a:ext cx="685800" cy="685800"/>
            <a:chOff x="0" y="0"/>
            <a:chExt cx="914400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2C6F"/>
            </a:solidFill>
          </p:spPr>
        </p:sp>
      </p:grpSp>
      <p:grpSp>
        <p:nvGrpSpPr>
          <p:cNvPr id="25" name="Group 25"/>
          <p:cNvGrpSpPr/>
          <p:nvPr/>
        </p:nvGrpSpPr>
        <p:grpSpPr>
          <a:xfrm rot="0">
            <a:off x="8443912" y="1693164"/>
            <a:ext cx="384048" cy="384048"/>
            <a:chOff x="0" y="0"/>
            <a:chExt cx="512064" cy="512064"/>
          </a:xfrm>
        </p:grpSpPr>
        <p:sp>
          <p:nvSpPr>
            <p:cNvPr id="26" name="Freeform 26" descr="/home/claude/icons/operational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7159276" y="2397849"/>
            <a:ext cx="2907792" cy="714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2225" b="1">
                <a:solidFill>
                  <a:srgbClr val="5B2C6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OPERATIONAL</a:t>
            </a:r>
            <a:endParaRPr lang="en-US" sz="2225" b="1">
              <a:solidFill>
                <a:srgbClr val="5B2C6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2670"/>
              </a:lnSpc>
            </a:pPr>
            <a:r>
              <a:rPr lang="en-US" sz="2225" b="1">
                <a:solidFill>
                  <a:srgbClr val="5B2C6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FEASIBILITY</a:t>
            </a:r>
            <a:endParaRPr lang="en-US" sz="2225" b="1">
              <a:solidFill>
                <a:srgbClr val="5B2C6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378732" y="3366437"/>
            <a:ext cx="2688336" cy="1364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00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Access: ship dashboards, web,</a:t>
            </a:r>
            <a:endParaRPr lang="en-US" sz="200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760"/>
              </a:lnSpc>
            </a:pPr>
            <a:r>
              <a:rPr lang="en-US" sz="200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mobile alerts</a:t>
            </a:r>
            <a:endParaRPr lang="en-US" sz="200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760"/>
              </a:lnSpc>
            </a:pPr>
          </a:p>
        </p:txBody>
      </p:sp>
      <p:grpSp>
        <p:nvGrpSpPr>
          <p:cNvPr id="29" name="Group 29"/>
          <p:cNvGrpSpPr/>
          <p:nvPr/>
        </p:nvGrpSpPr>
        <p:grpSpPr>
          <a:xfrm rot="0">
            <a:off x="10595324" y="1454888"/>
            <a:ext cx="3086672" cy="3745040"/>
            <a:chOff x="0" y="0"/>
            <a:chExt cx="4115562" cy="49933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115562" cy="4993386"/>
            </a:xfrm>
            <a:custGeom>
              <a:avLst/>
              <a:gdLst/>
              <a:ahLst/>
              <a:cxnLst/>
              <a:rect l="l" t="t" r="r" b="b"/>
              <a:pathLst>
                <a:path w="4115562" h="499338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3968623" y="0"/>
                  </a:lnTo>
                  <a:cubicBezTo>
                    <a:pt x="4049776" y="0"/>
                    <a:pt x="4115562" y="65786"/>
                    <a:pt x="4115562" y="146939"/>
                  </a:cubicBezTo>
                  <a:lnTo>
                    <a:pt x="4115562" y="4846447"/>
                  </a:lnTo>
                  <a:cubicBezTo>
                    <a:pt x="4115562" y="4927600"/>
                    <a:pt x="4049776" y="4993386"/>
                    <a:pt x="3968623" y="4993386"/>
                  </a:cubicBezTo>
                  <a:lnTo>
                    <a:pt x="146939" y="4993386"/>
                  </a:lnTo>
                  <a:cubicBezTo>
                    <a:pt x="65786" y="4993386"/>
                    <a:pt x="0" y="4927600"/>
                    <a:pt x="0" y="4846447"/>
                  </a:cubicBezTo>
                  <a:close/>
                </a:path>
              </a:pathLst>
            </a:custGeom>
            <a:solidFill>
              <a:srgbClr val="F6F8FA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 rot="0">
            <a:off x="11893772" y="1618488"/>
            <a:ext cx="724948" cy="685800"/>
            <a:chOff x="0" y="0"/>
            <a:chExt cx="966597" cy="914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66597" cy="914400"/>
            </a:xfrm>
            <a:custGeom>
              <a:avLst/>
              <a:gdLst/>
              <a:ahLst/>
              <a:cxnLst/>
              <a:rect l="l" t="t" r="r" b="b"/>
              <a:pathLst>
                <a:path w="966597" h="914400">
                  <a:moveTo>
                    <a:pt x="0" y="457200"/>
                  </a:moveTo>
                  <a:cubicBezTo>
                    <a:pt x="0" y="204724"/>
                    <a:pt x="216410" y="0"/>
                    <a:pt x="483299" y="0"/>
                  </a:cubicBezTo>
                  <a:cubicBezTo>
                    <a:pt x="750187" y="0"/>
                    <a:pt x="966597" y="204724"/>
                    <a:pt x="966597" y="457200"/>
                  </a:cubicBezTo>
                  <a:cubicBezTo>
                    <a:pt x="966597" y="709676"/>
                    <a:pt x="750187" y="914400"/>
                    <a:pt x="483299" y="914400"/>
                  </a:cubicBezTo>
                  <a:cubicBezTo>
                    <a:pt x="216410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id="33" name="Group 33"/>
          <p:cNvGrpSpPr/>
          <p:nvPr/>
        </p:nvGrpSpPr>
        <p:grpSpPr>
          <a:xfrm rot="0">
            <a:off x="12083796" y="1749552"/>
            <a:ext cx="384048" cy="384048"/>
            <a:chOff x="0" y="0"/>
            <a:chExt cx="512064" cy="512064"/>
          </a:xfrm>
        </p:grpSpPr>
        <p:sp>
          <p:nvSpPr>
            <p:cNvPr id="34" name="Freeform 34" descr="/home/claude/icons/infra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0660618" y="2435733"/>
            <a:ext cx="2907792" cy="676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125" b="1">
                <a:solidFill>
                  <a:srgbClr val="E8871E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INFRASTRUCTURE,</a:t>
            </a:r>
            <a:endParaRPr lang="en-US" sz="2125" b="1">
              <a:solidFill>
                <a:srgbClr val="E8871E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2550"/>
              </a:lnSpc>
            </a:pPr>
            <a:r>
              <a:rPr lang="en-US" sz="2125" b="1">
                <a:solidFill>
                  <a:srgbClr val="E8871E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SCALABILITY &amp; SECURITY</a:t>
            </a:r>
            <a:endParaRPr lang="en-US" sz="2125" b="1">
              <a:solidFill>
                <a:srgbClr val="E8871E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880074" y="3194978"/>
            <a:ext cx="2688336" cy="1706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00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Supports large-scale ice /</a:t>
            </a:r>
            <a:endParaRPr lang="en-US" sz="200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760"/>
              </a:lnSpc>
            </a:pPr>
            <a:r>
              <a:rPr lang="en-US" sz="200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iceberg data, multiple agencies</a:t>
            </a:r>
            <a:endParaRPr lang="en-US" sz="200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760"/>
              </a:lnSpc>
            </a:pPr>
          </a:p>
        </p:txBody>
      </p:sp>
      <p:grpSp>
        <p:nvGrpSpPr>
          <p:cNvPr id="37" name="Group 37"/>
          <p:cNvGrpSpPr/>
          <p:nvPr/>
        </p:nvGrpSpPr>
        <p:grpSpPr>
          <a:xfrm rot="0">
            <a:off x="354235" y="5285652"/>
            <a:ext cx="10424160" cy="570384"/>
            <a:chOff x="0" y="0"/>
            <a:chExt cx="13898880" cy="76051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898880" cy="760512"/>
            </a:xfrm>
            <a:custGeom>
              <a:avLst/>
              <a:gdLst/>
              <a:ahLst/>
              <a:cxnLst/>
              <a:rect l="l" t="t" r="r" b="b"/>
              <a:pathLst>
                <a:path w="13898880" h="760512">
                  <a:moveTo>
                    <a:pt x="0" y="0"/>
                  </a:moveTo>
                  <a:lnTo>
                    <a:pt x="13898880" y="0"/>
                  </a:lnTo>
                  <a:lnTo>
                    <a:pt x="13898880" y="760512"/>
                  </a:lnTo>
                  <a:lnTo>
                    <a:pt x="0" y="76051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20032" b="-29217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13898880" cy="8176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50"/>
                </a:lnSpc>
              </a:pPr>
              <a:r>
                <a:rPr lang="en-US" sz="2875" b="1">
                  <a:solidFill>
                    <a:srgbClr val="21295C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RISK REGISTER</a:t>
              </a:r>
              <a:endParaRPr lang="en-US" sz="2875" b="1">
                <a:solidFill>
                  <a:srgbClr val="21295C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0">
            <a:off x="367665" y="5832144"/>
            <a:ext cx="2537460" cy="438912"/>
            <a:chOff x="0" y="0"/>
            <a:chExt cx="3383280" cy="5852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383280" cy="585216"/>
            </a:xfrm>
            <a:custGeom>
              <a:avLst/>
              <a:gdLst/>
              <a:ahLst/>
              <a:cxnLst/>
              <a:rect l="l" t="t" r="r" b="b"/>
              <a:pathLst>
                <a:path w="3383280" h="585216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3291840" y="0"/>
                  </a:lnTo>
                  <a:cubicBezTo>
                    <a:pt x="3342386" y="0"/>
                    <a:pt x="3383280" y="40894"/>
                    <a:pt x="3383280" y="91440"/>
                  </a:cubicBezTo>
                  <a:lnTo>
                    <a:pt x="3383280" y="493776"/>
                  </a:lnTo>
                  <a:cubicBezTo>
                    <a:pt x="3383280" y="544322"/>
                    <a:pt x="3342386" y="585216"/>
                    <a:pt x="3291840" y="585216"/>
                  </a:cubicBezTo>
                  <a:lnTo>
                    <a:pt x="91440" y="585216"/>
                  </a:lnTo>
                  <a:cubicBezTo>
                    <a:pt x="40894" y="585216"/>
                    <a:pt x="0" y="544322"/>
                    <a:pt x="0" y="493776"/>
                  </a:cubicBezTo>
                  <a:close/>
                </a:path>
              </a:pathLst>
            </a:custGeom>
            <a:solidFill>
              <a:srgbClr val="C1121F"/>
            </a:solidFill>
          </p:spPr>
        </p:sp>
      </p:grpSp>
      <p:grpSp>
        <p:nvGrpSpPr>
          <p:cNvPr id="42" name="Group 42"/>
          <p:cNvGrpSpPr/>
          <p:nvPr/>
        </p:nvGrpSpPr>
        <p:grpSpPr>
          <a:xfrm rot="0">
            <a:off x="617220" y="5900724"/>
            <a:ext cx="301752" cy="301752"/>
            <a:chOff x="0" y="0"/>
            <a:chExt cx="402336" cy="402336"/>
          </a:xfrm>
        </p:grpSpPr>
        <p:sp>
          <p:nvSpPr>
            <p:cNvPr id="43" name="Freeform 43" descr="/home/claude/icons/why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 rot="0">
            <a:off x="1032891" y="5856036"/>
            <a:ext cx="2043684" cy="517465"/>
            <a:chOff x="0" y="0"/>
            <a:chExt cx="2724912" cy="68995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724912" cy="689953"/>
            </a:xfrm>
            <a:custGeom>
              <a:avLst/>
              <a:gdLst/>
              <a:ahLst/>
              <a:cxnLst/>
              <a:rect l="l" t="t" r="r" b="b"/>
              <a:pathLst>
                <a:path w="2724912" h="689953">
                  <a:moveTo>
                    <a:pt x="0" y="0"/>
                  </a:moveTo>
                  <a:lnTo>
                    <a:pt x="2724912" y="0"/>
                  </a:lnTo>
                  <a:lnTo>
                    <a:pt x="2724912" y="689953"/>
                  </a:lnTo>
                  <a:lnTo>
                    <a:pt x="0" y="689953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4544" b="-1936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2724912" cy="7375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90"/>
                </a:lnSpc>
              </a:pPr>
              <a:r>
                <a:rPr lang="en-US" sz="257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RISK</a:t>
              </a:r>
              <a:endParaRPr lang="en-US" sz="257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3226879" y="5815584"/>
            <a:ext cx="2811780" cy="438912"/>
            <a:chOff x="0" y="0"/>
            <a:chExt cx="3749040" cy="58521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749040" cy="585216"/>
            </a:xfrm>
            <a:custGeom>
              <a:avLst/>
              <a:gdLst/>
              <a:ahLst/>
              <a:cxnLst/>
              <a:rect l="l" t="t" r="r" b="b"/>
              <a:pathLst>
                <a:path w="3749040" h="585216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3657600" y="0"/>
                  </a:lnTo>
                  <a:cubicBezTo>
                    <a:pt x="3708146" y="0"/>
                    <a:pt x="3749040" y="40894"/>
                    <a:pt x="3749040" y="91440"/>
                  </a:cubicBezTo>
                  <a:lnTo>
                    <a:pt x="3749040" y="493776"/>
                  </a:lnTo>
                  <a:cubicBezTo>
                    <a:pt x="3749040" y="544322"/>
                    <a:pt x="3708146" y="585216"/>
                    <a:pt x="3657600" y="585216"/>
                  </a:cubicBezTo>
                  <a:lnTo>
                    <a:pt x="91440" y="585216"/>
                  </a:lnTo>
                  <a:cubicBezTo>
                    <a:pt x="40894" y="585216"/>
                    <a:pt x="0" y="544322"/>
                    <a:pt x="0" y="493776"/>
                  </a:cubicBez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id="49" name="Group 49"/>
          <p:cNvGrpSpPr/>
          <p:nvPr/>
        </p:nvGrpSpPr>
        <p:grpSpPr>
          <a:xfrm rot="0">
            <a:off x="3365182" y="5900724"/>
            <a:ext cx="301752" cy="301752"/>
            <a:chOff x="0" y="0"/>
            <a:chExt cx="402336" cy="402336"/>
          </a:xfrm>
        </p:grpSpPr>
        <p:sp>
          <p:nvSpPr>
            <p:cNvPr id="50" name="Freeform 50" descr="/home/claude/icons/impact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 rot="0">
            <a:off x="3781234" y="5839370"/>
            <a:ext cx="2318004" cy="517465"/>
            <a:chOff x="0" y="0"/>
            <a:chExt cx="3090672" cy="68995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090672" cy="689953"/>
            </a:xfrm>
            <a:custGeom>
              <a:avLst/>
              <a:gdLst/>
              <a:ahLst/>
              <a:cxnLst/>
              <a:rect l="l" t="t" r="r" b="b"/>
              <a:pathLst>
                <a:path w="3090672" h="689953">
                  <a:moveTo>
                    <a:pt x="0" y="0"/>
                  </a:moveTo>
                  <a:lnTo>
                    <a:pt x="3090672" y="0"/>
                  </a:lnTo>
                  <a:lnTo>
                    <a:pt x="3090672" y="689953"/>
                  </a:lnTo>
                  <a:lnTo>
                    <a:pt x="0" y="689953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44874" b="-29693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3090672" cy="7375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90"/>
                </a:lnSpc>
              </a:pPr>
              <a:r>
                <a:rPr lang="en-US" sz="257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IMPACT</a:t>
              </a:r>
              <a:endParaRPr lang="en-US" sz="257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 rot="0">
            <a:off x="6288310" y="5856036"/>
            <a:ext cx="4869180" cy="438912"/>
            <a:chOff x="0" y="0"/>
            <a:chExt cx="6492240" cy="58521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492240" cy="585216"/>
            </a:xfrm>
            <a:custGeom>
              <a:avLst/>
              <a:gdLst/>
              <a:ahLst/>
              <a:cxnLst/>
              <a:rect l="l" t="t" r="r" b="b"/>
              <a:pathLst>
                <a:path w="6492240" h="585216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6400800" y="0"/>
                  </a:lnTo>
                  <a:cubicBezTo>
                    <a:pt x="6451346" y="0"/>
                    <a:pt x="6492240" y="40894"/>
                    <a:pt x="6492240" y="91440"/>
                  </a:cubicBezTo>
                  <a:lnTo>
                    <a:pt x="6492240" y="493776"/>
                  </a:lnTo>
                  <a:cubicBezTo>
                    <a:pt x="6492240" y="544322"/>
                    <a:pt x="6451346" y="585216"/>
                    <a:pt x="6400800" y="585216"/>
                  </a:cubicBezTo>
                  <a:lnTo>
                    <a:pt x="91440" y="585216"/>
                  </a:lnTo>
                  <a:cubicBezTo>
                    <a:pt x="40894" y="585216"/>
                    <a:pt x="0" y="544322"/>
                    <a:pt x="0" y="493776"/>
                  </a:cubicBez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id="56" name="Group 56"/>
          <p:cNvGrpSpPr/>
          <p:nvPr/>
        </p:nvGrpSpPr>
        <p:grpSpPr>
          <a:xfrm rot="0">
            <a:off x="6432899" y="5969304"/>
            <a:ext cx="301752" cy="301752"/>
            <a:chOff x="0" y="0"/>
            <a:chExt cx="402336" cy="402336"/>
          </a:xfrm>
        </p:grpSpPr>
        <p:sp>
          <p:nvSpPr>
            <p:cNvPr id="57" name="Freeform 57" descr="/home/claude/icons/mitigation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 rot="0">
            <a:off x="6953107" y="5839370"/>
            <a:ext cx="4375404" cy="517465"/>
            <a:chOff x="0" y="0"/>
            <a:chExt cx="5833872" cy="689953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833872" cy="689953"/>
            </a:xfrm>
            <a:custGeom>
              <a:avLst/>
              <a:gdLst/>
              <a:ahLst/>
              <a:cxnLst/>
              <a:rect l="l" t="t" r="r" b="b"/>
              <a:pathLst>
                <a:path w="5833872" h="689953">
                  <a:moveTo>
                    <a:pt x="0" y="0"/>
                  </a:moveTo>
                  <a:lnTo>
                    <a:pt x="5833872" y="0"/>
                  </a:lnTo>
                  <a:lnTo>
                    <a:pt x="5833872" y="689953"/>
                  </a:lnTo>
                  <a:lnTo>
                    <a:pt x="0" y="689953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2345" b="-107164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5833872" cy="7375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90"/>
                </a:lnSpc>
              </a:pPr>
              <a:r>
                <a:rPr lang="en-US" sz="2575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MITIGATION</a:t>
              </a:r>
              <a:endParaRPr lang="en-US" sz="257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 rot="0">
            <a:off x="410528" y="6318681"/>
            <a:ext cx="2546985" cy="832485"/>
            <a:chOff x="0" y="0"/>
            <a:chExt cx="3395980" cy="11099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395980" cy="1109980"/>
            </a:xfrm>
            <a:custGeom>
              <a:avLst/>
              <a:gdLst/>
              <a:ahLst/>
              <a:cxnLst/>
              <a:rect l="l" t="t" r="r" b="b"/>
              <a:pathLst>
                <a:path w="3395980" h="1109980">
                  <a:moveTo>
                    <a:pt x="0" y="0"/>
                  </a:moveTo>
                  <a:lnTo>
                    <a:pt x="3395980" y="0"/>
                  </a:lnTo>
                  <a:lnTo>
                    <a:pt x="3395980" y="1109980"/>
                  </a:lnTo>
                  <a:lnTo>
                    <a:pt x="0" y="11099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 rot="0">
            <a:off x="635413" y="6350876"/>
            <a:ext cx="2345436" cy="768096"/>
            <a:chOff x="0" y="0"/>
            <a:chExt cx="3127248" cy="102412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127248" cy="1024128"/>
            </a:xfrm>
            <a:custGeom>
              <a:avLst/>
              <a:gdLst/>
              <a:ahLst/>
              <a:cxnLst/>
              <a:rect l="l" t="t" r="r" b="b"/>
              <a:pathLst>
                <a:path w="3127248" h="1024128">
                  <a:moveTo>
                    <a:pt x="0" y="0"/>
                  </a:moveTo>
                  <a:lnTo>
                    <a:pt x="3127248" y="0"/>
                  </a:lnTo>
                  <a:lnTo>
                    <a:pt x="31272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98" b="-9498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3127248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5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Satellite / sensor data latency or coverage gaps</a:t>
              </a:r>
              <a:endParaRPr lang="en-US" sz="15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 rot="0">
            <a:off x="3226879" y="6273546"/>
            <a:ext cx="2821305" cy="832485"/>
            <a:chOff x="0" y="0"/>
            <a:chExt cx="3761740" cy="11099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761740" cy="1109980"/>
            </a:xfrm>
            <a:custGeom>
              <a:avLst/>
              <a:gdLst/>
              <a:ahLst/>
              <a:cxnLst/>
              <a:rect l="l" t="t" r="r" b="b"/>
              <a:pathLst>
                <a:path w="3761740" h="1109980">
                  <a:moveTo>
                    <a:pt x="0" y="0"/>
                  </a:moveTo>
                  <a:lnTo>
                    <a:pt x="3761740" y="0"/>
                  </a:lnTo>
                  <a:lnTo>
                    <a:pt x="3761740" y="1109980"/>
                  </a:lnTo>
                  <a:lnTo>
                    <a:pt x="0" y="11099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 rot="0">
            <a:off x="3321367" y="6356835"/>
            <a:ext cx="2619756" cy="778769"/>
            <a:chOff x="0" y="0"/>
            <a:chExt cx="3493008" cy="1038359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493008" cy="1038359"/>
            </a:xfrm>
            <a:custGeom>
              <a:avLst/>
              <a:gdLst/>
              <a:ahLst/>
              <a:cxnLst/>
              <a:rect l="l" t="t" r="r" b="b"/>
              <a:pathLst>
                <a:path w="3493008" h="1038359">
                  <a:moveTo>
                    <a:pt x="0" y="0"/>
                  </a:moveTo>
                  <a:lnTo>
                    <a:pt x="3493008" y="0"/>
                  </a:lnTo>
                  <a:lnTo>
                    <a:pt x="3493008" y="1038359"/>
                  </a:lnTo>
                  <a:lnTo>
                    <a:pt x="0" y="1038359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6232" b="-14861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3493008" cy="1085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5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Delayed or incomplete trajectory predictions, missed hazard alerts</a:t>
              </a:r>
              <a:endParaRPr lang="en-US" sz="15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 rot="0">
            <a:off x="6304597" y="6318681"/>
            <a:ext cx="4878705" cy="832485"/>
            <a:chOff x="0" y="0"/>
            <a:chExt cx="6504940" cy="110998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504940" cy="1109980"/>
            </a:xfrm>
            <a:custGeom>
              <a:avLst/>
              <a:gdLst/>
              <a:ahLst/>
              <a:cxnLst/>
              <a:rect l="l" t="t" r="r" b="b"/>
              <a:pathLst>
                <a:path w="6504940" h="1109980">
                  <a:moveTo>
                    <a:pt x="0" y="0"/>
                  </a:moveTo>
                  <a:lnTo>
                    <a:pt x="6504940" y="0"/>
                  </a:lnTo>
                  <a:lnTo>
                    <a:pt x="6504940" y="1109980"/>
                  </a:lnTo>
                  <a:lnTo>
                    <a:pt x="0" y="11099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73" name="Group 73"/>
          <p:cNvGrpSpPr/>
          <p:nvPr/>
        </p:nvGrpSpPr>
        <p:grpSpPr>
          <a:xfrm rot="0">
            <a:off x="6405372" y="6271056"/>
            <a:ext cx="4677156" cy="768096"/>
            <a:chOff x="0" y="0"/>
            <a:chExt cx="6236208" cy="102412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236208" cy="1024128"/>
            </a:xfrm>
            <a:custGeom>
              <a:avLst/>
              <a:gdLst/>
              <a:ahLst/>
              <a:cxnLst/>
              <a:rect l="l" t="t" r="r" b="b"/>
              <a:pathLst>
                <a:path w="6236208" h="1024128">
                  <a:moveTo>
                    <a:pt x="0" y="0"/>
                  </a:moveTo>
                  <a:lnTo>
                    <a:pt x="6236208" y="0"/>
                  </a:lnTo>
                  <a:lnTo>
                    <a:pt x="623620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8649" b="-68649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6236208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0"/>
                </a:lnSpc>
              </a:pPr>
              <a:r>
                <a:rPr lang="en-US" sz="14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Fuse multi-source data (satellite + buoy + weather); cache last-known-good predictions; flag data-confidence to users</a:t>
              </a:r>
              <a:endParaRPr lang="en-US" sz="14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 rot="0">
            <a:off x="410528" y="7118972"/>
            <a:ext cx="2546985" cy="832485"/>
            <a:chOff x="0" y="0"/>
            <a:chExt cx="3395980" cy="110998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395980" cy="1109980"/>
            </a:xfrm>
            <a:custGeom>
              <a:avLst/>
              <a:gdLst/>
              <a:ahLst/>
              <a:cxnLst/>
              <a:rect l="l" t="t" r="r" b="b"/>
              <a:pathLst>
                <a:path w="3395980" h="1109980">
                  <a:moveTo>
                    <a:pt x="0" y="0"/>
                  </a:moveTo>
                  <a:lnTo>
                    <a:pt x="3395980" y="0"/>
                  </a:lnTo>
                  <a:lnTo>
                    <a:pt x="3395980" y="1109980"/>
                  </a:lnTo>
                  <a:lnTo>
                    <a:pt x="0" y="1109980"/>
                  </a:ln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 rot="0">
            <a:off x="559689" y="7303566"/>
            <a:ext cx="2345436" cy="768096"/>
            <a:chOff x="0" y="0"/>
            <a:chExt cx="3127248" cy="102412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127248" cy="1024128"/>
            </a:xfrm>
            <a:custGeom>
              <a:avLst/>
              <a:gdLst/>
              <a:ahLst/>
              <a:cxnLst/>
              <a:rect l="l" t="t" r="r" b="b"/>
              <a:pathLst>
                <a:path w="3127248" h="1024128">
                  <a:moveTo>
                    <a:pt x="0" y="0"/>
                  </a:moveTo>
                  <a:lnTo>
                    <a:pt x="3127248" y="0"/>
                  </a:lnTo>
                  <a:lnTo>
                    <a:pt x="31272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98" b="-9498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47625"/>
              <a:ext cx="3127248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5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False positives / negatives in iceberg detection</a:t>
              </a:r>
              <a:endParaRPr lang="en-US" sz="15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 rot="0">
            <a:off x="3264408" y="7125081"/>
            <a:ext cx="2821305" cy="832485"/>
            <a:chOff x="0" y="0"/>
            <a:chExt cx="3761740" cy="110998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761740" cy="1109980"/>
            </a:xfrm>
            <a:custGeom>
              <a:avLst/>
              <a:gdLst/>
              <a:ahLst/>
              <a:cxnLst/>
              <a:rect l="l" t="t" r="r" b="b"/>
              <a:pathLst>
                <a:path w="3761740" h="1109980">
                  <a:moveTo>
                    <a:pt x="0" y="0"/>
                  </a:moveTo>
                  <a:lnTo>
                    <a:pt x="3761740" y="0"/>
                  </a:lnTo>
                  <a:lnTo>
                    <a:pt x="3761740" y="1109980"/>
                  </a:lnTo>
                  <a:lnTo>
                    <a:pt x="0" y="1109980"/>
                  </a:ln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83" name="Group 83"/>
          <p:cNvGrpSpPr/>
          <p:nvPr/>
        </p:nvGrpSpPr>
        <p:grpSpPr>
          <a:xfrm rot="0">
            <a:off x="3287458" y="7145830"/>
            <a:ext cx="2619756" cy="778769"/>
            <a:chOff x="0" y="0"/>
            <a:chExt cx="3493008" cy="1038359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493008" cy="1038359"/>
            </a:xfrm>
            <a:custGeom>
              <a:avLst/>
              <a:gdLst/>
              <a:ahLst/>
              <a:cxnLst/>
              <a:rect l="l" t="t" r="r" b="b"/>
              <a:pathLst>
                <a:path w="3493008" h="1038359">
                  <a:moveTo>
                    <a:pt x="0" y="0"/>
                  </a:moveTo>
                  <a:lnTo>
                    <a:pt x="3493008" y="0"/>
                  </a:lnTo>
                  <a:lnTo>
                    <a:pt x="3493008" y="1038359"/>
                  </a:lnTo>
                  <a:lnTo>
                    <a:pt x="0" y="1038359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6232" b="-14861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47625"/>
              <a:ext cx="3493008" cy="1085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5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Erodes officer trust; ignored real alerts or unnecessary route diversions</a:t>
              </a:r>
              <a:endParaRPr lang="en-US" sz="15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 rot="0">
            <a:off x="6278785" y="6928335"/>
            <a:ext cx="4878705" cy="830199"/>
            <a:chOff x="0" y="0"/>
            <a:chExt cx="6504940" cy="110693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504940" cy="1106932"/>
            </a:xfrm>
            <a:custGeom>
              <a:avLst/>
              <a:gdLst/>
              <a:ahLst/>
              <a:cxnLst/>
              <a:rect l="l" t="t" r="r" b="b"/>
              <a:pathLst>
                <a:path w="6504940" h="1106932">
                  <a:moveTo>
                    <a:pt x="0" y="0"/>
                  </a:moveTo>
                  <a:lnTo>
                    <a:pt x="6504940" y="0"/>
                  </a:lnTo>
                  <a:lnTo>
                    <a:pt x="6504940" y="1106932"/>
                  </a:lnTo>
                  <a:lnTo>
                    <a:pt x="0" y="1106932"/>
                  </a:ln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88" name="Group 88"/>
          <p:cNvGrpSpPr/>
          <p:nvPr/>
        </p:nvGrpSpPr>
        <p:grpSpPr>
          <a:xfrm rot="0">
            <a:off x="6371463" y="6928335"/>
            <a:ext cx="4677156" cy="768096"/>
            <a:chOff x="0" y="0"/>
            <a:chExt cx="6236208" cy="1024128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6236208" cy="1024128"/>
            </a:xfrm>
            <a:custGeom>
              <a:avLst/>
              <a:gdLst/>
              <a:ahLst/>
              <a:cxnLst/>
              <a:rect l="l" t="t" r="r" b="b"/>
              <a:pathLst>
                <a:path w="6236208" h="1024128">
                  <a:moveTo>
                    <a:pt x="0" y="0"/>
                  </a:moveTo>
                  <a:lnTo>
                    <a:pt x="6236208" y="0"/>
                  </a:lnTo>
                  <a:lnTo>
                    <a:pt x="623620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8649" b="-68649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47625"/>
              <a:ext cx="6236208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0"/>
                </a:lnSpc>
              </a:pPr>
              <a:r>
                <a:rPr lang="en-US" sz="14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Continuous model validation against historical drift data; human-in-the-loop review for high-risk alerts</a:t>
              </a:r>
              <a:endParaRPr lang="en-US" sz="14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 rot="0">
            <a:off x="410527" y="7951457"/>
            <a:ext cx="2546985" cy="832485"/>
            <a:chOff x="0" y="0"/>
            <a:chExt cx="3395980" cy="110998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395980" cy="1109980"/>
            </a:xfrm>
            <a:custGeom>
              <a:avLst/>
              <a:gdLst/>
              <a:ahLst/>
              <a:cxnLst/>
              <a:rect l="l" t="t" r="r" b="b"/>
              <a:pathLst>
                <a:path w="3395980" h="1109980">
                  <a:moveTo>
                    <a:pt x="0" y="0"/>
                  </a:moveTo>
                  <a:lnTo>
                    <a:pt x="3395980" y="0"/>
                  </a:lnTo>
                  <a:lnTo>
                    <a:pt x="3395980" y="1109980"/>
                  </a:lnTo>
                  <a:lnTo>
                    <a:pt x="0" y="11099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93" name="Group 93"/>
          <p:cNvGrpSpPr/>
          <p:nvPr/>
        </p:nvGrpSpPr>
        <p:grpSpPr>
          <a:xfrm rot="0">
            <a:off x="612076" y="8182933"/>
            <a:ext cx="2345436" cy="768096"/>
            <a:chOff x="0" y="0"/>
            <a:chExt cx="3127248" cy="1024128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127248" cy="1024128"/>
            </a:xfrm>
            <a:custGeom>
              <a:avLst/>
              <a:gdLst/>
              <a:ahLst/>
              <a:cxnLst/>
              <a:rect l="l" t="t" r="r" b="b"/>
              <a:pathLst>
                <a:path w="3127248" h="1024128">
                  <a:moveTo>
                    <a:pt x="0" y="0"/>
                  </a:moveTo>
                  <a:lnTo>
                    <a:pt x="3127248" y="0"/>
                  </a:lnTo>
                  <a:lnTo>
                    <a:pt x="31272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98" b="-9498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47625"/>
              <a:ext cx="3127248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5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Limited connectivity in polar / offshore zones</a:t>
              </a:r>
              <a:endParaRPr lang="en-US" sz="15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 rot="0">
            <a:off x="3264408" y="8002701"/>
            <a:ext cx="2821305" cy="832485"/>
            <a:chOff x="0" y="0"/>
            <a:chExt cx="3761740" cy="110998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761740" cy="1109980"/>
            </a:xfrm>
            <a:custGeom>
              <a:avLst/>
              <a:gdLst/>
              <a:ahLst/>
              <a:cxnLst/>
              <a:rect l="l" t="t" r="r" b="b"/>
              <a:pathLst>
                <a:path w="3761740" h="1109980">
                  <a:moveTo>
                    <a:pt x="0" y="0"/>
                  </a:moveTo>
                  <a:lnTo>
                    <a:pt x="3761740" y="0"/>
                  </a:lnTo>
                  <a:lnTo>
                    <a:pt x="3761740" y="1109980"/>
                  </a:lnTo>
                  <a:lnTo>
                    <a:pt x="0" y="11099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98" name="Group 98"/>
          <p:cNvGrpSpPr/>
          <p:nvPr/>
        </p:nvGrpSpPr>
        <p:grpSpPr>
          <a:xfrm rot="0">
            <a:off x="3322891" y="8182933"/>
            <a:ext cx="2619756" cy="566957"/>
            <a:chOff x="0" y="0"/>
            <a:chExt cx="3493008" cy="755942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493008" cy="755942"/>
            </a:xfrm>
            <a:custGeom>
              <a:avLst/>
              <a:gdLst/>
              <a:ahLst/>
              <a:cxnLst/>
              <a:rect l="l" t="t" r="r" b="b"/>
              <a:pathLst>
                <a:path w="3493008" h="755942">
                  <a:moveTo>
                    <a:pt x="0" y="0"/>
                  </a:moveTo>
                  <a:lnTo>
                    <a:pt x="3493008" y="0"/>
                  </a:lnTo>
                  <a:lnTo>
                    <a:pt x="3493008" y="755942"/>
                  </a:lnTo>
                  <a:lnTo>
                    <a:pt x="0" y="75594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22296" b="-57773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47625"/>
              <a:ext cx="3493008" cy="803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5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and alerts fail to reach vessels in real time</a:t>
              </a:r>
              <a:endParaRPr lang="en-US" sz="15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 rot="0">
            <a:off x="6304597" y="7655420"/>
            <a:ext cx="4878705" cy="832485"/>
            <a:chOff x="0" y="0"/>
            <a:chExt cx="6504940" cy="110998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6504940" cy="1109980"/>
            </a:xfrm>
            <a:custGeom>
              <a:avLst/>
              <a:gdLst/>
              <a:ahLst/>
              <a:cxnLst/>
              <a:rect l="l" t="t" r="r" b="b"/>
              <a:pathLst>
                <a:path w="6504940" h="1109980">
                  <a:moveTo>
                    <a:pt x="0" y="0"/>
                  </a:moveTo>
                  <a:lnTo>
                    <a:pt x="6504940" y="0"/>
                  </a:lnTo>
                  <a:lnTo>
                    <a:pt x="6504940" y="1109980"/>
                  </a:lnTo>
                  <a:lnTo>
                    <a:pt x="0" y="11099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103" name="Group 103"/>
          <p:cNvGrpSpPr/>
          <p:nvPr/>
        </p:nvGrpSpPr>
        <p:grpSpPr>
          <a:xfrm rot="0">
            <a:off x="6371463" y="7696431"/>
            <a:ext cx="4677156" cy="768096"/>
            <a:chOff x="0" y="0"/>
            <a:chExt cx="6236208" cy="1024128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6236208" cy="1024128"/>
            </a:xfrm>
            <a:custGeom>
              <a:avLst/>
              <a:gdLst/>
              <a:ahLst/>
              <a:cxnLst/>
              <a:rect l="l" t="t" r="r" b="b"/>
              <a:pathLst>
                <a:path w="6236208" h="1024128">
                  <a:moveTo>
                    <a:pt x="0" y="0"/>
                  </a:moveTo>
                  <a:lnTo>
                    <a:pt x="6236208" y="0"/>
                  </a:lnTo>
                  <a:lnTo>
                    <a:pt x="623620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8649" b="-68649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47625"/>
              <a:ext cx="6236208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0"/>
                </a:lnSpc>
              </a:pPr>
              <a:r>
                <a:rPr lang="en-US" sz="14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Offline-capable on-device alert caching; low-bandwidth satellite-phone / SMS fallback for critical alerts</a:t>
              </a:r>
              <a:endParaRPr lang="en-US" sz="14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 rot="0">
            <a:off x="433864" y="8776512"/>
            <a:ext cx="2546985" cy="733003"/>
            <a:chOff x="0" y="0"/>
            <a:chExt cx="3395980" cy="977338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3395980" cy="977338"/>
            </a:xfrm>
            <a:custGeom>
              <a:avLst/>
              <a:gdLst/>
              <a:ahLst/>
              <a:cxnLst/>
              <a:rect l="l" t="t" r="r" b="b"/>
              <a:pathLst>
                <a:path w="3395980" h="977338">
                  <a:moveTo>
                    <a:pt x="0" y="0"/>
                  </a:moveTo>
                  <a:lnTo>
                    <a:pt x="3395980" y="0"/>
                  </a:lnTo>
                  <a:lnTo>
                    <a:pt x="3395980" y="977338"/>
                  </a:lnTo>
                  <a:lnTo>
                    <a:pt x="0" y="977338"/>
                  </a:ln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108" name="Group 108"/>
          <p:cNvGrpSpPr/>
          <p:nvPr/>
        </p:nvGrpSpPr>
        <p:grpSpPr>
          <a:xfrm rot="0">
            <a:off x="595122" y="8924510"/>
            <a:ext cx="2345436" cy="567268"/>
            <a:chOff x="0" y="0"/>
            <a:chExt cx="3127248" cy="756358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3127248" cy="756358"/>
            </a:xfrm>
            <a:custGeom>
              <a:avLst/>
              <a:gdLst/>
              <a:ahLst/>
              <a:cxnLst/>
              <a:rect l="l" t="t" r="r" b="b"/>
              <a:pathLst>
                <a:path w="3127248" h="756358">
                  <a:moveTo>
                    <a:pt x="0" y="0"/>
                  </a:moveTo>
                  <a:lnTo>
                    <a:pt x="3127248" y="0"/>
                  </a:lnTo>
                  <a:lnTo>
                    <a:pt x="3127248" y="756358"/>
                  </a:lnTo>
                  <a:lnTo>
                    <a:pt x="0" y="756358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861" b="-48264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47625"/>
              <a:ext cx="3127248" cy="8039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5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Scaling to multiple agencies / vessels</a:t>
              </a:r>
              <a:endParaRPr lang="en-US" sz="15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 rot="0">
            <a:off x="3188684" y="8821851"/>
            <a:ext cx="2885123" cy="748610"/>
            <a:chOff x="0" y="0"/>
            <a:chExt cx="3985836" cy="1034215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3985837" cy="1034215"/>
            </a:xfrm>
            <a:custGeom>
              <a:avLst/>
              <a:gdLst/>
              <a:ahLst/>
              <a:cxnLst/>
              <a:rect l="l" t="t" r="r" b="b"/>
              <a:pathLst>
                <a:path w="3985837" h="1034215">
                  <a:moveTo>
                    <a:pt x="0" y="0"/>
                  </a:moveTo>
                  <a:lnTo>
                    <a:pt x="3985837" y="0"/>
                  </a:lnTo>
                  <a:lnTo>
                    <a:pt x="3985837" y="1034215"/>
                  </a:lnTo>
                  <a:lnTo>
                    <a:pt x="0" y="1034215"/>
                  </a:ln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113" name="Group 113"/>
          <p:cNvGrpSpPr/>
          <p:nvPr/>
        </p:nvGrpSpPr>
        <p:grpSpPr>
          <a:xfrm rot="0">
            <a:off x="3340608" y="8759414"/>
            <a:ext cx="2573465" cy="811047"/>
            <a:chOff x="0" y="0"/>
            <a:chExt cx="3658772" cy="115309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3658772" cy="1153090"/>
            </a:xfrm>
            <a:custGeom>
              <a:avLst/>
              <a:gdLst/>
              <a:ahLst/>
              <a:cxnLst/>
              <a:rect l="l" t="t" r="r" b="b"/>
              <a:pathLst>
                <a:path w="3658772" h="1153090">
                  <a:moveTo>
                    <a:pt x="0" y="0"/>
                  </a:moveTo>
                  <a:lnTo>
                    <a:pt x="3658772" y="0"/>
                  </a:lnTo>
                  <a:lnTo>
                    <a:pt x="3658772" y="1153090"/>
                  </a:lnTo>
                  <a:lnTo>
                    <a:pt x="0" y="115309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4617" r="4530" b="-3433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47625"/>
              <a:ext cx="3658772" cy="1200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5"/>
                </a:lnSpc>
              </a:pPr>
              <a:r>
                <a:rPr lang="en-US" sz="15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Performance degradation; access-control conflicts across agencies</a:t>
              </a:r>
              <a:endParaRPr lang="en-US" sz="15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16" name="Group 116"/>
          <p:cNvGrpSpPr/>
          <p:nvPr/>
        </p:nvGrpSpPr>
        <p:grpSpPr>
          <a:xfrm rot="0">
            <a:off x="6304597" y="8535530"/>
            <a:ext cx="4878705" cy="832485"/>
            <a:chOff x="0" y="0"/>
            <a:chExt cx="6504940" cy="110998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6504940" cy="1109980"/>
            </a:xfrm>
            <a:custGeom>
              <a:avLst/>
              <a:gdLst/>
              <a:ahLst/>
              <a:cxnLst/>
              <a:rect l="l" t="t" r="r" b="b"/>
              <a:pathLst>
                <a:path w="6504940" h="1109980">
                  <a:moveTo>
                    <a:pt x="0" y="0"/>
                  </a:moveTo>
                  <a:lnTo>
                    <a:pt x="6504940" y="0"/>
                  </a:lnTo>
                  <a:lnTo>
                    <a:pt x="6504940" y="1109980"/>
                  </a:lnTo>
                  <a:lnTo>
                    <a:pt x="0" y="1109980"/>
                  </a:lnTo>
                  <a:close/>
                </a:path>
              </a:pathLst>
            </a:custGeom>
            <a:solidFill>
              <a:srgbClr val="F6F8FA"/>
            </a:solidFill>
            <a:ln w="9525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118" name="Group 118"/>
          <p:cNvGrpSpPr/>
          <p:nvPr/>
        </p:nvGrpSpPr>
        <p:grpSpPr>
          <a:xfrm rot="0">
            <a:off x="6480334" y="8630780"/>
            <a:ext cx="4677156" cy="517535"/>
            <a:chOff x="0" y="0"/>
            <a:chExt cx="6236208" cy="690046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6236208" cy="690046"/>
            </a:xfrm>
            <a:custGeom>
              <a:avLst/>
              <a:gdLst/>
              <a:ahLst/>
              <a:cxnLst/>
              <a:rect l="l" t="t" r="r" b="b"/>
              <a:pathLst>
                <a:path w="6236208" h="690046">
                  <a:moveTo>
                    <a:pt x="0" y="0"/>
                  </a:moveTo>
                  <a:lnTo>
                    <a:pt x="6236208" y="0"/>
                  </a:lnTo>
                  <a:lnTo>
                    <a:pt x="6236208" y="690046"/>
                  </a:lnTo>
                  <a:lnTo>
                    <a:pt x="0" y="69004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1886" b="-150300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47625"/>
              <a:ext cx="6236208" cy="7376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0"/>
                </a:lnSpc>
              </a:pPr>
              <a:r>
                <a:rPr lang="en-US" sz="1445" b="1">
                  <a:solidFill>
                    <a:srgbClr val="00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Role-based access control; horizontally scalable cloud infrastructure; phased agency onboarding</a:t>
              </a:r>
              <a:endParaRPr lang="en-US" sz="144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 rot="0">
            <a:off x="11546967" y="5323752"/>
            <a:ext cx="6021896" cy="3923347"/>
            <a:chOff x="0" y="0"/>
            <a:chExt cx="8029194" cy="523113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8029194" cy="5231130"/>
            </a:xfrm>
            <a:custGeom>
              <a:avLst/>
              <a:gdLst/>
              <a:ahLst/>
              <a:cxnLst/>
              <a:rect l="l" t="t" r="r" b="b"/>
              <a:pathLst>
                <a:path w="8029194" h="523113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882382" y="0"/>
                  </a:lnTo>
                  <a:cubicBezTo>
                    <a:pt x="7963535" y="0"/>
                    <a:pt x="8029194" y="65786"/>
                    <a:pt x="8029194" y="146812"/>
                  </a:cubicBezTo>
                  <a:lnTo>
                    <a:pt x="8029194" y="5084318"/>
                  </a:lnTo>
                  <a:cubicBezTo>
                    <a:pt x="8029194" y="5165471"/>
                    <a:pt x="7963408" y="5231130"/>
                    <a:pt x="7882382" y="5231130"/>
                  </a:cubicBezTo>
                  <a:lnTo>
                    <a:pt x="146812" y="5231130"/>
                  </a:lnTo>
                  <a:cubicBezTo>
                    <a:pt x="65786" y="5231130"/>
                    <a:pt x="0" y="5165344"/>
                    <a:pt x="0" y="5084318"/>
                  </a:cubicBezTo>
                  <a:close/>
                </a:path>
              </a:pathLst>
            </a:custGeom>
            <a:solidFill>
              <a:srgbClr val="EAF4F8"/>
            </a:solidFill>
            <a:ln w="14288" cap="sq">
              <a:solidFill>
                <a:srgbClr val="CFE4EC"/>
              </a:solidFill>
              <a:prstDash val="solid"/>
              <a:miter/>
            </a:ln>
          </p:spPr>
        </p:sp>
      </p:grpSp>
      <p:grpSp>
        <p:nvGrpSpPr>
          <p:cNvPr id="123" name="Group 123"/>
          <p:cNvGrpSpPr/>
          <p:nvPr/>
        </p:nvGrpSpPr>
        <p:grpSpPr>
          <a:xfrm rot="0">
            <a:off x="11699748" y="5409793"/>
            <a:ext cx="576072" cy="576072"/>
            <a:chOff x="0" y="0"/>
            <a:chExt cx="768096" cy="768096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125" name="Group 125"/>
          <p:cNvGrpSpPr/>
          <p:nvPr/>
        </p:nvGrpSpPr>
        <p:grpSpPr>
          <a:xfrm rot="0">
            <a:off x="11836908" y="5570844"/>
            <a:ext cx="301752" cy="301752"/>
            <a:chOff x="0" y="0"/>
            <a:chExt cx="402336" cy="402336"/>
          </a:xfrm>
        </p:grpSpPr>
        <p:sp>
          <p:nvSpPr>
            <p:cNvPr id="126" name="Freeform 126" descr="/home/claude/icons/pin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27" name="Group 127"/>
          <p:cNvGrpSpPr/>
          <p:nvPr/>
        </p:nvGrpSpPr>
        <p:grpSpPr>
          <a:xfrm rot="0">
            <a:off x="12618720" y="5477947"/>
            <a:ext cx="4773168" cy="557093"/>
            <a:chOff x="0" y="0"/>
            <a:chExt cx="6364224" cy="74279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6364224" cy="742790"/>
            </a:xfrm>
            <a:custGeom>
              <a:avLst/>
              <a:gdLst/>
              <a:ahLst/>
              <a:cxnLst/>
              <a:rect l="l" t="t" r="r" b="b"/>
              <a:pathLst>
                <a:path w="6364224" h="742790">
                  <a:moveTo>
                    <a:pt x="0" y="0"/>
                  </a:moveTo>
                  <a:lnTo>
                    <a:pt x="6364224" y="0"/>
                  </a:lnTo>
                  <a:lnTo>
                    <a:pt x="6364224" y="742790"/>
                  </a:lnTo>
                  <a:lnTo>
                    <a:pt x="0" y="74279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0168" b="-113727"/>
              </a:stretch>
            </a:blipFill>
          </p:spPr>
        </p:sp>
        <p:sp>
          <p:nvSpPr>
            <p:cNvPr id="129" name="TextBox 129"/>
            <p:cNvSpPr txBox="1"/>
            <p:nvPr/>
          </p:nvSpPr>
          <p:spPr>
            <a:xfrm>
              <a:off x="0" y="-66675"/>
              <a:ext cx="6364224" cy="809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 b="1">
                  <a:solidFill>
                    <a:srgbClr val="21295C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DEPLOYMENT PATH</a:t>
              </a:r>
              <a:endParaRPr lang="en-US" sz="2800" b="1">
                <a:solidFill>
                  <a:srgbClr val="21295C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130" name="TextBox 130"/>
          <p:cNvSpPr txBox="1"/>
          <p:nvPr/>
        </p:nvSpPr>
        <p:spPr>
          <a:xfrm>
            <a:off x="12048950" y="6093755"/>
            <a:ext cx="5458968" cy="2548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sz="2325" b="1">
                <a:solidFill>
                  <a:srgbClr val="3A3A3A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Pilot: one high-traffic Antarctic shipping lane (e.g. Drake Passage) with 2–3 partner vessels and one coast-guard / research monitoring station, run for a full season before scaling to additional routes and agencies.</a:t>
            </a:r>
            <a:endParaRPr lang="en-US" sz="2325" b="1">
              <a:solidFill>
                <a:srgbClr val="3A3A3A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131" name="Group 131"/>
          <p:cNvGrpSpPr/>
          <p:nvPr/>
        </p:nvGrpSpPr>
        <p:grpSpPr>
          <a:xfrm rot="0">
            <a:off x="11727180" y="8602334"/>
            <a:ext cx="411480" cy="411480"/>
            <a:chOff x="0" y="0"/>
            <a:chExt cx="548640" cy="54864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sp>
        <p:nvSpPr>
          <p:cNvPr id="133" name="AutoShape 133"/>
          <p:cNvSpPr/>
          <p:nvPr/>
        </p:nvSpPr>
        <p:spPr>
          <a:xfrm flipV="1">
            <a:off x="11902440" y="8750300"/>
            <a:ext cx="4932045" cy="26035"/>
          </a:xfrm>
          <a:prstGeom prst="line">
            <a:avLst/>
          </a:prstGeom>
          <a:ln w="19050" cap="rnd">
            <a:solidFill>
              <a:srgbClr val="1C729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4" name="Group 134"/>
          <p:cNvGrpSpPr/>
          <p:nvPr/>
        </p:nvGrpSpPr>
        <p:grpSpPr>
          <a:xfrm rot="0">
            <a:off x="16840122" y="8572246"/>
            <a:ext cx="493776" cy="493776"/>
            <a:chOff x="0" y="0"/>
            <a:chExt cx="658368" cy="658368"/>
          </a:xfrm>
        </p:grpSpPr>
        <p:sp>
          <p:nvSpPr>
            <p:cNvPr id="135" name="Freeform 135" descr="/home/claude/icons/flag.png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36" name="Group 136"/>
          <p:cNvGrpSpPr/>
          <p:nvPr/>
        </p:nvGrpSpPr>
        <p:grpSpPr>
          <a:xfrm rot="0">
            <a:off x="262778" y="147062"/>
            <a:ext cx="2096374" cy="1035658"/>
            <a:chOff x="0" y="0"/>
            <a:chExt cx="2795165" cy="1380877"/>
          </a:xfrm>
        </p:grpSpPr>
        <p:sp>
          <p:nvSpPr>
            <p:cNvPr id="137" name="Freeform 137" descr="Your startup LOGO"/>
            <p:cNvSpPr/>
            <p:nvPr/>
          </p:nvSpPr>
          <p:spPr>
            <a:xfrm>
              <a:off x="0" y="0"/>
              <a:ext cx="2795124" cy="1380890"/>
            </a:xfrm>
            <a:custGeom>
              <a:avLst/>
              <a:gdLst/>
              <a:ahLst/>
              <a:cxnLst/>
              <a:rect l="l" t="t" r="r" b="b"/>
              <a:pathLst>
                <a:path w="2795124" h="1380890">
                  <a:moveTo>
                    <a:pt x="0" y="690444"/>
                  </a:moveTo>
                  <a:cubicBezTo>
                    <a:pt x="0" y="309157"/>
                    <a:pt x="625755" y="0"/>
                    <a:pt x="1397562" y="0"/>
                  </a:cubicBezTo>
                  <a:cubicBezTo>
                    <a:pt x="2169368" y="0"/>
                    <a:pt x="2795124" y="309157"/>
                    <a:pt x="2795124" y="690444"/>
                  </a:cubicBezTo>
                  <a:cubicBezTo>
                    <a:pt x="2795124" y="1071730"/>
                    <a:pt x="2169368" y="1380890"/>
                    <a:pt x="1397562" y="1380890"/>
                  </a:cubicBezTo>
                  <a:cubicBezTo>
                    <a:pt x="625755" y="1380890"/>
                    <a:pt x="0" y="1071730"/>
                    <a:pt x="0" y="69044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0" y="-57150"/>
              <a:ext cx="2795165" cy="1438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id="139" name="Group 139"/>
          <p:cNvGrpSpPr/>
          <p:nvPr/>
        </p:nvGrpSpPr>
        <p:grpSpPr>
          <a:xfrm rot="0">
            <a:off x="410528" y="-601496"/>
            <a:ext cx="1863014" cy="2415056"/>
            <a:chOff x="0" y="0"/>
            <a:chExt cx="2606431" cy="3378759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2606431" cy="3378759"/>
            </a:xfrm>
            <a:custGeom>
              <a:avLst/>
              <a:gdLst/>
              <a:ahLst/>
              <a:cxnLst/>
              <a:rect l="l" t="t" r="r" b="b"/>
              <a:pathLst>
                <a:path w="2606431" h="3378759">
                  <a:moveTo>
                    <a:pt x="0" y="0"/>
                  </a:moveTo>
                  <a:lnTo>
                    <a:pt x="2606431" y="0"/>
                  </a:lnTo>
                  <a:lnTo>
                    <a:pt x="2606431" y="3378759"/>
                  </a:lnTo>
                  <a:lnTo>
                    <a:pt x="0" y="3378759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8134" r="-461319" b="-610"/>
              </a:stretch>
            </a:blipFill>
          </p:spPr>
        </p:sp>
        <p:sp>
          <p:nvSpPr>
            <p:cNvPr id="141" name="TextBox 141"/>
            <p:cNvSpPr txBox="1"/>
            <p:nvPr/>
          </p:nvSpPr>
          <p:spPr>
            <a:xfrm>
              <a:off x="0" y="-9525"/>
              <a:ext cx="2606431" cy="33882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000000"/>
                  </a:solidFill>
                  <a:latin typeface="Cambria Bold" panose="02040803050406030204"/>
                  <a:ea typeface="Cambria Bold" panose="02040803050406030204"/>
                  <a:cs typeface="Cambria Bold" panose="02040803050406030204"/>
                  <a:sym typeface="Cambria Bold" panose="02040803050406030204"/>
                </a:rPr>
                <a:t>NEXORA</a:t>
              </a:r>
              <a:endParaRPr lang="en-US" sz="3300" b="1">
                <a:solidFill>
                  <a:srgbClr val="000000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endParaRPr>
            </a:p>
          </p:txBody>
        </p:sp>
      </p:grpSp>
      <p:grpSp>
        <p:nvGrpSpPr>
          <p:cNvPr id="142" name="Group 142"/>
          <p:cNvGrpSpPr/>
          <p:nvPr/>
        </p:nvGrpSpPr>
        <p:grpSpPr>
          <a:xfrm rot="0">
            <a:off x="0" y="9713336"/>
            <a:ext cx="18288000" cy="594774"/>
            <a:chOff x="0" y="0"/>
            <a:chExt cx="24384000" cy="793032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24384000" cy="793032"/>
            </a:xfrm>
            <a:custGeom>
              <a:avLst/>
              <a:gdLst/>
              <a:ahLst/>
              <a:cxnLst/>
              <a:rect l="l" t="t" r="r" b="b"/>
              <a:pathLst>
                <a:path w="24384000" h="793032">
                  <a:moveTo>
                    <a:pt x="0" y="0"/>
                  </a:moveTo>
                  <a:lnTo>
                    <a:pt x="24384000" y="0"/>
                  </a:lnTo>
                  <a:lnTo>
                    <a:pt x="24384000" y="793032"/>
                  </a:lnTo>
                  <a:lnTo>
                    <a:pt x="0" y="79303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144" name="TextBox 144"/>
          <p:cNvSpPr txBox="1"/>
          <p:nvPr/>
        </p:nvSpPr>
        <p:spPr>
          <a:xfrm>
            <a:off x="17568862" y="9769430"/>
            <a:ext cx="157192" cy="40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0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4</a:t>
            </a:r>
            <a:endParaRPr lang="en-US" sz="2225">
              <a:solidFill>
                <a:srgbClr val="000000"/>
              </a:solidFill>
              <a:latin typeface="Arial MT Pro" panose="020B0502020202020204"/>
              <a:ea typeface="Arial MT Pro" panose="020B0502020202020204"/>
              <a:cs typeface="Arial MT Pro" panose="020B0502020202020204"/>
              <a:sym typeface="Arial MT Pro" panose="020B0502020202020204"/>
            </a:endParaRPr>
          </a:p>
        </p:txBody>
      </p:sp>
      <p:grpSp>
        <p:nvGrpSpPr>
          <p:cNvPr id="145" name="Group 145"/>
          <p:cNvGrpSpPr/>
          <p:nvPr/>
        </p:nvGrpSpPr>
        <p:grpSpPr>
          <a:xfrm rot="0">
            <a:off x="14778434" y="250660"/>
            <a:ext cx="3374774" cy="1479080"/>
            <a:chOff x="0" y="0"/>
            <a:chExt cx="4499699" cy="1972107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4499737" cy="1972145"/>
            </a:xfrm>
            <a:custGeom>
              <a:avLst/>
              <a:gdLst/>
              <a:ahLst/>
              <a:cxnLst/>
              <a:rect l="l" t="t" r="r" b="b"/>
              <a:pathLst>
                <a:path w="4499737" h="1972145">
                  <a:moveTo>
                    <a:pt x="0" y="0"/>
                  </a:moveTo>
                  <a:lnTo>
                    <a:pt x="4499737" y="0"/>
                  </a:lnTo>
                  <a:lnTo>
                    <a:pt x="4499737" y="1972145"/>
                  </a:lnTo>
                  <a:lnTo>
                    <a:pt x="0" y="1972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868" b="-3866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804455" y="-995330"/>
            <a:ext cx="6880259" cy="3264947"/>
            <a:chOff x="0" y="0"/>
            <a:chExt cx="9173678" cy="43532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73678" cy="4353262"/>
            </a:xfrm>
            <a:custGeom>
              <a:avLst/>
              <a:gdLst/>
              <a:ahLst/>
              <a:cxnLst/>
              <a:rect l="l" t="t" r="r" b="b"/>
              <a:pathLst>
                <a:path w="9173678" h="4353262">
                  <a:moveTo>
                    <a:pt x="0" y="0"/>
                  </a:moveTo>
                  <a:lnTo>
                    <a:pt x="9173678" y="0"/>
                  </a:lnTo>
                  <a:lnTo>
                    <a:pt x="9173678" y="4353262"/>
                  </a:lnTo>
                  <a:lnTo>
                    <a:pt x="0" y="4353262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71353" r="-99352" b="76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9173678" cy="43627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40"/>
                </a:lnSpc>
              </a:pPr>
              <a:r>
                <a:rPr lang="en-US" sz="4450" b="1">
                  <a:solidFill>
                    <a:srgbClr val="000000"/>
                  </a:solidFill>
                  <a:latin typeface="Cambria Bold" panose="02040803050406030204"/>
                  <a:ea typeface="Cambria Bold" panose="02040803050406030204"/>
                  <a:cs typeface="Cambria Bold" panose="02040803050406030204"/>
                  <a:sym typeface="Cambria Bold" panose="02040803050406030204"/>
                </a:rPr>
                <a:t>IMPACT AND BENEFITS</a:t>
              </a:r>
              <a:endParaRPr lang="en-US" sz="4450" b="1">
                <a:solidFill>
                  <a:srgbClr val="000000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15816" y="1335119"/>
            <a:ext cx="3086672" cy="4038886"/>
            <a:chOff x="0" y="0"/>
            <a:chExt cx="4115562" cy="53851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5562" cy="5385181"/>
            </a:xfrm>
            <a:custGeom>
              <a:avLst/>
              <a:gdLst/>
              <a:ahLst/>
              <a:cxnLst/>
              <a:rect l="l" t="t" r="r" b="b"/>
              <a:pathLst>
                <a:path w="4115562" h="5385181">
                  <a:moveTo>
                    <a:pt x="0" y="159638"/>
                  </a:moveTo>
                  <a:cubicBezTo>
                    <a:pt x="0" y="71471"/>
                    <a:pt x="65786" y="0"/>
                    <a:pt x="146939" y="0"/>
                  </a:cubicBezTo>
                  <a:lnTo>
                    <a:pt x="3968623" y="0"/>
                  </a:lnTo>
                  <a:cubicBezTo>
                    <a:pt x="4049776" y="0"/>
                    <a:pt x="4115562" y="71471"/>
                    <a:pt x="4115562" y="159638"/>
                  </a:cubicBezTo>
                  <a:lnTo>
                    <a:pt x="4115562" y="5225543"/>
                  </a:lnTo>
                  <a:cubicBezTo>
                    <a:pt x="4115562" y="5313710"/>
                    <a:pt x="4049776" y="5385181"/>
                    <a:pt x="3968623" y="5385181"/>
                  </a:cubicBezTo>
                  <a:lnTo>
                    <a:pt x="146939" y="5385181"/>
                  </a:lnTo>
                  <a:cubicBezTo>
                    <a:pt x="65786" y="5385181"/>
                    <a:pt x="0" y="5313710"/>
                    <a:pt x="0" y="5225543"/>
                  </a:cubicBezTo>
                  <a:close/>
                </a:path>
              </a:pathLst>
            </a:custGeom>
            <a:solidFill>
              <a:srgbClr val="F6F8FA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 rot="0">
            <a:off x="1943195" y="1426464"/>
            <a:ext cx="685800" cy="685800"/>
            <a:chOff x="0" y="0"/>
            <a:chExt cx="91440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9" name="Group 9"/>
          <p:cNvGrpSpPr/>
          <p:nvPr/>
        </p:nvGrpSpPr>
        <p:grpSpPr>
          <a:xfrm rot="0">
            <a:off x="2092547" y="1577340"/>
            <a:ext cx="384048" cy="384048"/>
            <a:chOff x="0" y="0"/>
            <a:chExt cx="512064" cy="512064"/>
          </a:xfrm>
        </p:grpSpPr>
        <p:sp>
          <p:nvSpPr>
            <p:cNvPr id="10" name="Freeform 10" descr="/home/claude/icons/users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05256" y="2257294"/>
            <a:ext cx="2907792" cy="63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065A82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TARGET USER &amp;</a:t>
            </a:r>
            <a:endParaRPr lang="en-US" sz="1950" b="1">
              <a:solidFill>
                <a:srgbClr val="065A82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065A82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BENEFICIARY</a:t>
            </a:r>
            <a:endParaRPr lang="en-US" sz="1950" b="1">
              <a:solidFill>
                <a:srgbClr val="065A82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49550" y="3067007"/>
            <a:ext cx="2688336" cy="1751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3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Primary: Vessel navigation officers</a:t>
            </a:r>
            <a:endParaRPr lang="en-US" sz="173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85"/>
              </a:lnSpc>
            </a:pPr>
            <a:r>
              <a:rPr lang="en-US" sz="173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Beneficiary: Coast guard /</a:t>
            </a:r>
            <a:endParaRPr lang="en-US" sz="173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85"/>
              </a:lnSpc>
            </a:pPr>
            <a:r>
              <a:rPr lang="en-US" sz="173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maritime research agencies</a:t>
            </a:r>
            <a:endParaRPr lang="en-US" sz="173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3936492" y="3319272"/>
            <a:ext cx="192024" cy="219456"/>
            <a:chOff x="0" y="0"/>
            <a:chExt cx="256032" cy="2926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6032" cy="292608"/>
            </a:xfrm>
            <a:custGeom>
              <a:avLst/>
              <a:gdLst/>
              <a:ahLst/>
              <a:cxnLst/>
              <a:rect l="l" t="t" r="r" b="b"/>
              <a:pathLst>
                <a:path w="256032" h="292608">
                  <a:moveTo>
                    <a:pt x="0" y="0"/>
                  </a:moveTo>
                  <a:lnTo>
                    <a:pt x="128016" y="0"/>
                  </a:lnTo>
                  <a:lnTo>
                    <a:pt x="256032" y="146304"/>
                  </a:lnTo>
                  <a:lnTo>
                    <a:pt x="128016" y="292608"/>
                  </a:lnTo>
                  <a:lnTo>
                    <a:pt x="0" y="292608"/>
                  </a:lnTo>
                  <a:lnTo>
                    <a:pt x="128016" y="146304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4162520" y="1335119"/>
            <a:ext cx="3086672" cy="4105561"/>
            <a:chOff x="0" y="0"/>
            <a:chExt cx="4115562" cy="54740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15562" cy="5474081"/>
            </a:xfrm>
            <a:custGeom>
              <a:avLst/>
              <a:gdLst/>
              <a:ahLst/>
              <a:cxnLst/>
              <a:rect l="l" t="t" r="r" b="b"/>
              <a:pathLst>
                <a:path w="4115562" h="5474081">
                  <a:moveTo>
                    <a:pt x="0" y="162273"/>
                  </a:moveTo>
                  <a:cubicBezTo>
                    <a:pt x="0" y="72651"/>
                    <a:pt x="65786" y="0"/>
                    <a:pt x="146939" y="0"/>
                  </a:cubicBezTo>
                  <a:lnTo>
                    <a:pt x="3968623" y="0"/>
                  </a:lnTo>
                  <a:cubicBezTo>
                    <a:pt x="4049776" y="0"/>
                    <a:pt x="4115562" y="72651"/>
                    <a:pt x="4115562" y="162273"/>
                  </a:cubicBezTo>
                  <a:lnTo>
                    <a:pt x="4115562" y="5311808"/>
                  </a:lnTo>
                  <a:cubicBezTo>
                    <a:pt x="4115562" y="5401430"/>
                    <a:pt x="4049776" y="5474081"/>
                    <a:pt x="3968623" y="5474081"/>
                  </a:cubicBezTo>
                  <a:lnTo>
                    <a:pt x="146939" y="5474081"/>
                  </a:lnTo>
                  <a:cubicBezTo>
                    <a:pt x="65786" y="5474081"/>
                    <a:pt x="0" y="5401430"/>
                    <a:pt x="0" y="5311808"/>
                  </a:cubicBezTo>
                  <a:close/>
                </a:path>
              </a:pathLst>
            </a:custGeom>
            <a:solidFill>
              <a:srgbClr val="F6F8FA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 rot="0">
            <a:off x="5289899" y="1407414"/>
            <a:ext cx="685800" cy="685800"/>
            <a:chOff x="0" y="0"/>
            <a:chExt cx="914400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id="19" name="Group 19"/>
          <p:cNvGrpSpPr/>
          <p:nvPr/>
        </p:nvGrpSpPr>
        <p:grpSpPr>
          <a:xfrm rot="0">
            <a:off x="5452386" y="1577340"/>
            <a:ext cx="384048" cy="384048"/>
            <a:chOff x="0" y="0"/>
            <a:chExt cx="512064" cy="512064"/>
          </a:xfrm>
        </p:grpSpPr>
        <p:sp>
          <p:nvSpPr>
            <p:cNvPr id="20" name="Freeform 20" descr="/home/claude/icons/clock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4155948" y="2135135"/>
            <a:ext cx="2907792" cy="63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1E844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CURRENT</a:t>
            </a:r>
            <a:endParaRPr lang="en-US" sz="1950" b="1">
              <a:solidFill>
                <a:srgbClr val="1E8449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1E844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CONDITION</a:t>
            </a:r>
            <a:endParaRPr lang="en-US" sz="1950" b="1">
              <a:solidFill>
                <a:srgbClr val="1E8449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22" name="AutoShape 22"/>
          <p:cNvSpPr/>
          <p:nvPr/>
        </p:nvSpPr>
        <p:spPr>
          <a:xfrm rot="83160">
            <a:off x="5213747" y="3328226"/>
            <a:ext cx="984218" cy="0"/>
          </a:xfrm>
          <a:prstGeom prst="line">
            <a:avLst/>
          </a:prstGeom>
          <a:ln w="9525" cap="rnd">
            <a:solidFill>
              <a:srgbClr val="1E844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4460287" y="2866982"/>
            <a:ext cx="2688336" cy="2478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5"/>
              </a:lnSpc>
            </a:pPr>
            <a:r>
              <a:rPr lang="en-US" sz="160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Around 15,000 icebergs are formed each year, and about 2% of them drift into shipping lanes near the Titanic's sinking location — meaning the hazard volume is large relative to detection capacity</a:t>
            </a:r>
            <a:endParaRPr lang="en-US" sz="160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7283196" y="3319272"/>
            <a:ext cx="192024" cy="219456"/>
            <a:chOff x="0" y="0"/>
            <a:chExt cx="256032" cy="29260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6032" cy="292608"/>
            </a:xfrm>
            <a:custGeom>
              <a:avLst/>
              <a:gdLst/>
              <a:ahLst/>
              <a:cxnLst/>
              <a:rect l="l" t="t" r="r" b="b"/>
              <a:pathLst>
                <a:path w="256032" h="292608">
                  <a:moveTo>
                    <a:pt x="0" y="0"/>
                  </a:moveTo>
                  <a:lnTo>
                    <a:pt x="128016" y="0"/>
                  </a:lnTo>
                  <a:lnTo>
                    <a:pt x="256032" y="146304"/>
                  </a:lnTo>
                  <a:lnTo>
                    <a:pt x="128016" y="292608"/>
                  </a:lnTo>
                  <a:lnTo>
                    <a:pt x="0" y="292608"/>
                  </a:lnTo>
                  <a:lnTo>
                    <a:pt x="128016" y="146304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26" name="Group 26"/>
          <p:cNvGrpSpPr/>
          <p:nvPr/>
        </p:nvGrpSpPr>
        <p:grpSpPr>
          <a:xfrm rot="0">
            <a:off x="7509224" y="1335119"/>
            <a:ext cx="3086672" cy="4105561"/>
            <a:chOff x="0" y="0"/>
            <a:chExt cx="4115562" cy="547408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115562" cy="5474081"/>
            </a:xfrm>
            <a:custGeom>
              <a:avLst/>
              <a:gdLst/>
              <a:ahLst/>
              <a:cxnLst/>
              <a:rect l="l" t="t" r="r" b="b"/>
              <a:pathLst>
                <a:path w="4115562" h="5474081">
                  <a:moveTo>
                    <a:pt x="0" y="162273"/>
                  </a:moveTo>
                  <a:cubicBezTo>
                    <a:pt x="0" y="72651"/>
                    <a:pt x="65786" y="0"/>
                    <a:pt x="146939" y="0"/>
                  </a:cubicBezTo>
                  <a:lnTo>
                    <a:pt x="3968623" y="0"/>
                  </a:lnTo>
                  <a:cubicBezTo>
                    <a:pt x="4049776" y="0"/>
                    <a:pt x="4115562" y="72651"/>
                    <a:pt x="4115562" y="162273"/>
                  </a:cubicBezTo>
                  <a:lnTo>
                    <a:pt x="4115562" y="5311808"/>
                  </a:lnTo>
                  <a:cubicBezTo>
                    <a:pt x="4115562" y="5401430"/>
                    <a:pt x="4049776" y="5474081"/>
                    <a:pt x="3968623" y="5474081"/>
                  </a:cubicBezTo>
                  <a:lnTo>
                    <a:pt x="146939" y="5474081"/>
                  </a:lnTo>
                  <a:cubicBezTo>
                    <a:pt x="65786" y="5474081"/>
                    <a:pt x="0" y="5401430"/>
                    <a:pt x="0" y="5311808"/>
                  </a:cubicBezTo>
                  <a:close/>
                </a:path>
              </a:pathLst>
            </a:custGeom>
            <a:solidFill>
              <a:srgbClr val="F6F8FA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 rot="0">
            <a:off x="8637513" y="1397889"/>
            <a:ext cx="685800" cy="685800"/>
            <a:chOff x="0" y="0"/>
            <a:chExt cx="914400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2C6F"/>
            </a:solidFill>
          </p:spPr>
        </p:sp>
      </p:grpSp>
      <p:grpSp>
        <p:nvGrpSpPr>
          <p:cNvPr id="30" name="Group 30"/>
          <p:cNvGrpSpPr/>
          <p:nvPr/>
        </p:nvGrpSpPr>
        <p:grpSpPr>
          <a:xfrm rot="0">
            <a:off x="8788389" y="1541621"/>
            <a:ext cx="384048" cy="384048"/>
            <a:chOff x="0" y="0"/>
            <a:chExt cx="512064" cy="512064"/>
          </a:xfrm>
        </p:grpSpPr>
        <p:sp>
          <p:nvSpPr>
            <p:cNvPr id="31" name="Freeform 31" descr="/home/claude/icons/impact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7526517" y="2111502"/>
            <a:ext cx="2907792" cy="63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5B2C6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EXPECTED</a:t>
            </a:r>
            <a:endParaRPr lang="en-US" sz="1950" b="1">
              <a:solidFill>
                <a:srgbClr val="5B2C6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5B2C6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CHANGE</a:t>
            </a:r>
            <a:endParaRPr lang="en-US" sz="1950" b="1">
              <a:solidFill>
                <a:srgbClr val="5B2C6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903845" y="2768786"/>
            <a:ext cx="2570925" cy="2637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173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Real-time AI risk analysis &amp;</a:t>
            </a:r>
            <a:endParaRPr lang="en-US" sz="173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90"/>
              </a:lnSpc>
            </a:pPr>
            <a:r>
              <a:rPr lang="en-US" sz="173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route recommendations replace</a:t>
            </a:r>
            <a:endParaRPr lang="en-US" sz="173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90"/>
              </a:lnSpc>
            </a:pPr>
            <a:r>
              <a:rPr lang="en-US" sz="173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manual, fragmented checking</a:t>
            </a:r>
            <a:endParaRPr lang="en-US" sz="173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90"/>
              </a:lnSpc>
            </a:pPr>
            <a:r>
              <a:rPr lang="en-US" sz="173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Magnitude of improvement</a:t>
            </a:r>
            <a:endParaRPr lang="en-US" sz="173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34" name="Group 34"/>
          <p:cNvGrpSpPr/>
          <p:nvPr/>
        </p:nvGrpSpPr>
        <p:grpSpPr>
          <a:xfrm rot="0">
            <a:off x="10629900" y="3319272"/>
            <a:ext cx="192024" cy="219456"/>
            <a:chOff x="0" y="0"/>
            <a:chExt cx="256032" cy="29260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56032" cy="292608"/>
            </a:xfrm>
            <a:custGeom>
              <a:avLst/>
              <a:gdLst/>
              <a:ahLst/>
              <a:cxnLst/>
              <a:rect l="l" t="t" r="r" b="b"/>
              <a:pathLst>
                <a:path w="256032" h="292608">
                  <a:moveTo>
                    <a:pt x="0" y="0"/>
                  </a:moveTo>
                  <a:lnTo>
                    <a:pt x="128016" y="0"/>
                  </a:lnTo>
                  <a:lnTo>
                    <a:pt x="256032" y="146304"/>
                  </a:lnTo>
                  <a:lnTo>
                    <a:pt x="128016" y="292608"/>
                  </a:lnTo>
                  <a:lnTo>
                    <a:pt x="0" y="292608"/>
                  </a:lnTo>
                  <a:lnTo>
                    <a:pt x="128016" y="146304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36" name="Group 36"/>
          <p:cNvGrpSpPr/>
          <p:nvPr/>
        </p:nvGrpSpPr>
        <p:grpSpPr>
          <a:xfrm rot="0">
            <a:off x="10855933" y="1335119"/>
            <a:ext cx="3086672" cy="4105561"/>
            <a:chOff x="0" y="0"/>
            <a:chExt cx="4115562" cy="547408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115562" cy="5474081"/>
            </a:xfrm>
            <a:custGeom>
              <a:avLst/>
              <a:gdLst/>
              <a:ahLst/>
              <a:cxnLst/>
              <a:rect l="l" t="t" r="r" b="b"/>
              <a:pathLst>
                <a:path w="4115562" h="5474081">
                  <a:moveTo>
                    <a:pt x="0" y="162273"/>
                  </a:moveTo>
                  <a:cubicBezTo>
                    <a:pt x="0" y="72651"/>
                    <a:pt x="65786" y="0"/>
                    <a:pt x="146939" y="0"/>
                  </a:cubicBezTo>
                  <a:lnTo>
                    <a:pt x="3968623" y="0"/>
                  </a:lnTo>
                  <a:cubicBezTo>
                    <a:pt x="4049776" y="0"/>
                    <a:pt x="4115562" y="72651"/>
                    <a:pt x="4115562" y="162273"/>
                  </a:cubicBezTo>
                  <a:lnTo>
                    <a:pt x="4115562" y="5311808"/>
                  </a:lnTo>
                  <a:cubicBezTo>
                    <a:pt x="4115562" y="5401430"/>
                    <a:pt x="4049776" y="5474081"/>
                    <a:pt x="3968623" y="5474081"/>
                  </a:cubicBezTo>
                  <a:lnTo>
                    <a:pt x="146939" y="5474081"/>
                  </a:lnTo>
                  <a:cubicBezTo>
                    <a:pt x="65786" y="5474081"/>
                    <a:pt x="0" y="5401430"/>
                    <a:pt x="0" y="5311808"/>
                  </a:cubicBezTo>
                  <a:close/>
                </a:path>
              </a:pathLst>
            </a:custGeom>
            <a:solidFill>
              <a:srgbClr val="F6F8FA"/>
            </a:solidFill>
            <a:ln w="14288" cap="sq">
              <a:solidFill>
                <a:srgbClr val="E3E7EC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 rot="0">
            <a:off x="11998913" y="1390745"/>
            <a:ext cx="685800" cy="685800"/>
            <a:chOff x="0" y="0"/>
            <a:chExt cx="914400" cy="914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id="40" name="Group 40"/>
          <p:cNvGrpSpPr/>
          <p:nvPr/>
        </p:nvGrpSpPr>
        <p:grpSpPr>
          <a:xfrm rot="0">
            <a:off x="12179660" y="1558290"/>
            <a:ext cx="384048" cy="384048"/>
            <a:chOff x="0" y="0"/>
            <a:chExt cx="512064" cy="512064"/>
          </a:xfrm>
        </p:grpSpPr>
        <p:sp>
          <p:nvSpPr>
            <p:cNvPr id="41" name="Freeform 41" descr="/home/claude/icons/bullseye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10892123" y="2111502"/>
            <a:ext cx="2907792" cy="63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E8871E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BENEFIT CATEGORIES</a:t>
            </a:r>
            <a:endParaRPr lang="en-US" sz="1950" b="1">
              <a:solidFill>
                <a:srgbClr val="E8871E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E8871E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WHERE THEY APPLY</a:t>
            </a:r>
            <a:endParaRPr lang="en-US" sz="1950" b="1">
              <a:solidFill>
                <a:srgbClr val="E8871E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111579" y="2898116"/>
            <a:ext cx="2688336" cy="1751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3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Social, Economic, Operational,</a:t>
            </a:r>
            <a:endParaRPr lang="en-US" sz="173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85"/>
              </a:lnSpc>
            </a:pPr>
            <a:r>
              <a:rPr lang="en-US" sz="173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Institutional</a:t>
            </a:r>
            <a:endParaRPr lang="en-US" sz="173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85"/>
              </a:lnSpc>
            </a:pPr>
            <a:r>
              <a:rPr lang="en-US" sz="173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Environmental — not yet supported</a:t>
            </a:r>
            <a:endParaRPr lang="en-US" sz="173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l">
              <a:lnSpc>
                <a:spcPts val="2385"/>
              </a:lnSpc>
            </a:pPr>
            <a:r>
              <a:rPr lang="en-US" sz="173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by stated evidence</a:t>
            </a:r>
            <a:endParaRPr lang="en-US" sz="173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 rot="0">
            <a:off x="822960" y="5554980"/>
            <a:ext cx="16637508" cy="569152"/>
            <a:chOff x="0" y="0"/>
            <a:chExt cx="22183344" cy="75886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2183344" cy="758869"/>
            </a:xfrm>
            <a:custGeom>
              <a:avLst/>
              <a:gdLst/>
              <a:ahLst/>
              <a:cxnLst/>
              <a:rect l="l" t="t" r="r" b="b"/>
              <a:pathLst>
                <a:path w="22183344" h="758869">
                  <a:moveTo>
                    <a:pt x="0" y="0"/>
                  </a:moveTo>
                  <a:lnTo>
                    <a:pt x="22183344" y="0"/>
                  </a:lnTo>
                  <a:lnTo>
                    <a:pt x="22183344" y="758869"/>
                  </a:lnTo>
                  <a:lnTo>
                    <a:pt x="0" y="758869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533440" b="-50573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22183344" cy="8160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20"/>
                </a:lnSpc>
              </a:pPr>
              <a:r>
                <a:rPr lang="en-US" sz="2850" b="1">
                  <a:solidFill>
                    <a:srgbClr val="21295C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BENEFITS THAT MATTER</a:t>
              </a:r>
              <a:endParaRPr lang="en-US" sz="2850" b="1">
                <a:solidFill>
                  <a:srgbClr val="21295C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0">
            <a:off x="811054" y="6064282"/>
            <a:ext cx="3096196" cy="2355533"/>
            <a:chOff x="0" y="0"/>
            <a:chExt cx="4128262" cy="314071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128262" cy="3140710"/>
            </a:xfrm>
            <a:custGeom>
              <a:avLst/>
              <a:gdLst/>
              <a:ahLst/>
              <a:cxnLst/>
              <a:rect l="l" t="t" r="r" b="b"/>
              <a:pathLst>
                <a:path w="4128262" h="31407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3980434" y="0"/>
                  </a:lnTo>
                  <a:cubicBezTo>
                    <a:pt x="4062095" y="0"/>
                    <a:pt x="4128262" y="66167"/>
                    <a:pt x="4128262" y="147828"/>
                  </a:cubicBezTo>
                  <a:lnTo>
                    <a:pt x="4128262" y="2992882"/>
                  </a:lnTo>
                  <a:cubicBezTo>
                    <a:pt x="4128262" y="3074543"/>
                    <a:pt x="4062095" y="3140710"/>
                    <a:pt x="3980434" y="3140710"/>
                  </a:cubicBezTo>
                  <a:lnTo>
                    <a:pt x="147828" y="3140710"/>
                  </a:lnTo>
                  <a:cubicBezTo>
                    <a:pt x="66167" y="3140710"/>
                    <a:pt x="0" y="3074543"/>
                    <a:pt x="0" y="2992882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065A82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 rot="0">
            <a:off x="1935480" y="6141482"/>
            <a:ext cx="576072" cy="576072"/>
            <a:chOff x="0" y="0"/>
            <a:chExt cx="768096" cy="76809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51" name="Group 51"/>
          <p:cNvGrpSpPr/>
          <p:nvPr/>
        </p:nvGrpSpPr>
        <p:grpSpPr>
          <a:xfrm rot="0">
            <a:off x="2071116" y="6233646"/>
            <a:ext cx="322602" cy="322602"/>
            <a:chOff x="0" y="0"/>
            <a:chExt cx="430136" cy="430136"/>
          </a:xfrm>
        </p:grpSpPr>
        <p:sp>
          <p:nvSpPr>
            <p:cNvPr id="52" name="Freeform 52" descr="/home/claude/icons/users.png"/>
            <p:cNvSpPr/>
            <p:nvPr/>
          </p:nvSpPr>
          <p:spPr>
            <a:xfrm>
              <a:off x="0" y="0"/>
              <a:ext cx="430149" cy="430149"/>
            </a:xfrm>
            <a:custGeom>
              <a:avLst/>
              <a:gdLst/>
              <a:ahLst/>
              <a:cxnLst/>
              <a:rect l="l" t="t" r="r" b="b"/>
              <a:pathLst>
                <a:path w="430149" h="430149">
                  <a:moveTo>
                    <a:pt x="0" y="0"/>
                  </a:moveTo>
                  <a:lnTo>
                    <a:pt x="430149" y="0"/>
                  </a:lnTo>
                  <a:lnTo>
                    <a:pt x="430149" y="430149"/>
                  </a:lnTo>
                  <a:lnTo>
                    <a:pt x="0" y="430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2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 rot="0">
            <a:off x="778521" y="6736604"/>
            <a:ext cx="2907792" cy="392685"/>
            <a:chOff x="0" y="0"/>
            <a:chExt cx="3877056" cy="5235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877056" cy="523580"/>
            </a:xfrm>
            <a:custGeom>
              <a:avLst/>
              <a:gdLst/>
              <a:ahLst/>
              <a:cxnLst/>
              <a:rect l="l" t="t" r="r" b="b"/>
              <a:pathLst>
                <a:path w="3877056" h="523580">
                  <a:moveTo>
                    <a:pt x="0" y="0"/>
                  </a:moveTo>
                  <a:lnTo>
                    <a:pt x="3877056" y="0"/>
                  </a:lnTo>
                  <a:lnTo>
                    <a:pt x="3877056" y="523580"/>
                  </a:lnTo>
                  <a:lnTo>
                    <a:pt x="0" y="52358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5384" b="-93185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3877056" cy="571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0"/>
                </a:lnSpc>
              </a:pPr>
              <a:r>
                <a:rPr lang="en-US" sz="1975" b="1">
                  <a:solidFill>
                    <a:srgbClr val="065A82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SOCIAL</a:t>
              </a:r>
              <a:endParaRPr lang="en-US" sz="1975" b="1">
                <a:solidFill>
                  <a:srgbClr val="065A82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987552" y="7010293"/>
            <a:ext cx="2715768" cy="137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9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Reduces vessel accidents, delays, and loss of life at sea; clearer risk visualization builds trust.</a:t>
            </a:r>
            <a:endParaRPr lang="en-US" sz="199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57" name="Group 57"/>
          <p:cNvGrpSpPr/>
          <p:nvPr/>
        </p:nvGrpSpPr>
        <p:grpSpPr>
          <a:xfrm rot="0">
            <a:off x="4157758" y="6064282"/>
            <a:ext cx="3096196" cy="2355533"/>
            <a:chOff x="0" y="0"/>
            <a:chExt cx="4128262" cy="314071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128262" cy="3140710"/>
            </a:xfrm>
            <a:custGeom>
              <a:avLst/>
              <a:gdLst/>
              <a:ahLst/>
              <a:cxnLst/>
              <a:rect l="l" t="t" r="r" b="b"/>
              <a:pathLst>
                <a:path w="4128262" h="31407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3980434" y="0"/>
                  </a:lnTo>
                  <a:cubicBezTo>
                    <a:pt x="4062095" y="0"/>
                    <a:pt x="4128262" y="66167"/>
                    <a:pt x="4128262" y="147828"/>
                  </a:cubicBezTo>
                  <a:lnTo>
                    <a:pt x="4128262" y="2992882"/>
                  </a:lnTo>
                  <a:cubicBezTo>
                    <a:pt x="4128262" y="3074543"/>
                    <a:pt x="4062095" y="3140710"/>
                    <a:pt x="3980434" y="3140710"/>
                  </a:cubicBezTo>
                  <a:lnTo>
                    <a:pt x="147828" y="3140710"/>
                  </a:lnTo>
                  <a:cubicBezTo>
                    <a:pt x="66167" y="3140710"/>
                    <a:pt x="0" y="3074543"/>
                    <a:pt x="0" y="2992882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E8449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 rot="0">
            <a:off x="5290090" y="6106916"/>
            <a:ext cx="576072" cy="576072"/>
            <a:chOff x="0" y="0"/>
            <a:chExt cx="768096" cy="76809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E8449"/>
            </a:solidFill>
          </p:spPr>
        </p:sp>
      </p:grpSp>
      <p:grpSp>
        <p:nvGrpSpPr>
          <p:cNvPr id="61" name="Group 61"/>
          <p:cNvGrpSpPr/>
          <p:nvPr/>
        </p:nvGrpSpPr>
        <p:grpSpPr>
          <a:xfrm rot="0">
            <a:off x="5513832" y="6233646"/>
            <a:ext cx="322602" cy="322602"/>
            <a:chOff x="0" y="0"/>
            <a:chExt cx="430136" cy="430136"/>
          </a:xfrm>
        </p:grpSpPr>
        <p:sp>
          <p:nvSpPr>
            <p:cNvPr id="62" name="Freeform 62" descr="/home/claude/icons/financial.png"/>
            <p:cNvSpPr/>
            <p:nvPr/>
          </p:nvSpPr>
          <p:spPr>
            <a:xfrm>
              <a:off x="0" y="0"/>
              <a:ext cx="430149" cy="430149"/>
            </a:xfrm>
            <a:custGeom>
              <a:avLst/>
              <a:gdLst/>
              <a:ahLst/>
              <a:cxnLst/>
              <a:rect l="l" t="t" r="r" b="b"/>
              <a:pathLst>
                <a:path w="430149" h="430149">
                  <a:moveTo>
                    <a:pt x="0" y="0"/>
                  </a:moveTo>
                  <a:lnTo>
                    <a:pt x="430149" y="0"/>
                  </a:lnTo>
                  <a:lnTo>
                    <a:pt x="430149" y="430149"/>
                  </a:lnTo>
                  <a:lnTo>
                    <a:pt x="0" y="430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" b="2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 rot="0">
            <a:off x="4155948" y="6736604"/>
            <a:ext cx="2907792" cy="392685"/>
            <a:chOff x="0" y="0"/>
            <a:chExt cx="3877056" cy="52358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877056" cy="523580"/>
            </a:xfrm>
            <a:custGeom>
              <a:avLst/>
              <a:gdLst/>
              <a:ahLst/>
              <a:cxnLst/>
              <a:rect l="l" t="t" r="r" b="b"/>
              <a:pathLst>
                <a:path w="3877056" h="523580">
                  <a:moveTo>
                    <a:pt x="0" y="0"/>
                  </a:moveTo>
                  <a:lnTo>
                    <a:pt x="3877056" y="0"/>
                  </a:lnTo>
                  <a:lnTo>
                    <a:pt x="3877056" y="523580"/>
                  </a:lnTo>
                  <a:lnTo>
                    <a:pt x="0" y="52358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5384" b="-93185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3877056" cy="571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0"/>
                </a:lnSpc>
              </a:pPr>
              <a:r>
                <a:rPr lang="en-US" sz="1975" b="1">
                  <a:solidFill>
                    <a:srgbClr val="1E8449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ECONOMIC</a:t>
              </a:r>
              <a:endParaRPr lang="en-US" sz="1975" b="1">
                <a:solidFill>
                  <a:srgbClr val="1E8449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4190619" y="7149227"/>
            <a:ext cx="3030474" cy="1095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09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Reduces fuel loss and damage from route diversions and collisions.</a:t>
            </a:r>
            <a:endParaRPr lang="en-US" sz="209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67" name="Group 67"/>
          <p:cNvGrpSpPr/>
          <p:nvPr/>
        </p:nvGrpSpPr>
        <p:grpSpPr>
          <a:xfrm rot="0">
            <a:off x="7504462" y="6064282"/>
            <a:ext cx="3096196" cy="2355533"/>
            <a:chOff x="0" y="0"/>
            <a:chExt cx="4128262" cy="314071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128262" cy="3140710"/>
            </a:xfrm>
            <a:custGeom>
              <a:avLst/>
              <a:gdLst/>
              <a:ahLst/>
              <a:cxnLst/>
              <a:rect l="l" t="t" r="r" b="b"/>
              <a:pathLst>
                <a:path w="4128262" h="31407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3980434" y="0"/>
                  </a:lnTo>
                  <a:cubicBezTo>
                    <a:pt x="4062095" y="0"/>
                    <a:pt x="4128262" y="66167"/>
                    <a:pt x="4128262" y="147828"/>
                  </a:cubicBezTo>
                  <a:lnTo>
                    <a:pt x="4128262" y="2992882"/>
                  </a:lnTo>
                  <a:cubicBezTo>
                    <a:pt x="4128262" y="3074543"/>
                    <a:pt x="4062095" y="3140710"/>
                    <a:pt x="3980434" y="3140710"/>
                  </a:cubicBezTo>
                  <a:lnTo>
                    <a:pt x="147828" y="3140710"/>
                  </a:lnTo>
                  <a:cubicBezTo>
                    <a:pt x="66167" y="3140710"/>
                    <a:pt x="0" y="3074543"/>
                    <a:pt x="0" y="2992882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 rot="0">
            <a:off x="8709660" y="6141482"/>
            <a:ext cx="576072" cy="576072"/>
            <a:chOff x="0" y="0"/>
            <a:chExt cx="768096" cy="76809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71" name="Group 71"/>
          <p:cNvGrpSpPr/>
          <p:nvPr/>
        </p:nvGrpSpPr>
        <p:grpSpPr>
          <a:xfrm rot="0">
            <a:off x="8819112" y="6151631"/>
            <a:ext cx="322602" cy="322602"/>
            <a:chOff x="0" y="0"/>
            <a:chExt cx="430136" cy="430136"/>
          </a:xfrm>
        </p:grpSpPr>
        <p:sp>
          <p:nvSpPr>
            <p:cNvPr id="72" name="Freeform 72" descr="/home/claude/icons/leaf.png"/>
            <p:cNvSpPr/>
            <p:nvPr/>
          </p:nvSpPr>
          <p:spPr>
            <a:xfrm>
              <a:off x="0" y="0"/>
              <a:ext cx="430149" cy="430149"/>
            </a:xfrm>
            <a:custGeom>
              <a:avLst/>
              <a:gdLst/>
              <a:ahLst/>
              <a:cxnLst/>
              <a:rect l="l" t="t" r="r" b="b"/>
              <a:pathLst>
                <a:path w="430149" h="430149">
                  <a:moveTo>
                    <a:pt x="0" y="0"/>
                  </a:moveTo>
                  <a:lnTo>
                    <a:pt x="430149" y="0"/>
                  </a:lnTo>
                  <a:lnTo>
                    <a:pt x="430149" y="430149"/>
                  </a:lnTo>
                  <a:lnTo>
                    <a:pt x="0" y="430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 rot="0">
            <a:off x="7475220" y="6831854"/>
            <a:ext cx="2907792" cy="392685"/>
            <a:chOff x="0" y="0"/>
            <a:chExt cx="3877056" cy="52358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877056" cy="523580"/>
            </a:xfrm>
            <a:custGeom>
              <a:avLst/>
              <a:gdLst/>
              <a:ahLst/>
              <a:cxnLst/>
              <a:rect l="l" t="t" r="r" b="b"/>
              <a:pathLst>
                <a:path w="3877056" h="523580">
                  <a:moveTo>
                    <a:pt x="0" y="0"/>
                  </a:moveTo>
                  <a:lnTo>
                    <a:pt x="3877056" y="0"/>
                  </a:lnTo>
                  <a:lnTo>
                    <a:pt x="3877056" y="523580"/>
                  </a:lnTo>
                  <a:lnTo>
                    <a:pt x="0" y="52358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5384" b="-93185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3877056" cy="571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0"/>
                </a:lnSpc>
              </a:pPr>
              <a:r>
                <a:rPr lang="en-US" sz="1975" b="1">
                  <a:solidFill>
                    <a:srgbClr val="1C7293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ENVIRONMENTAL</a:t>
              </a:r>
              <a:endParaRPr lang="en-US" sz="1975" b="1">
                <a:solidFill>
                  <a:srgbClr val="1C7293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7680960" y="7261860"/>
            <a:ext cx="2715768" cy="74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090" b="1" i="1">
                <a:solidFill>
                  <a:srgbClr val="000000"/>
                </a:solidFill>
                <a:latin typeface="Calibri (MS) Bold Italics" panose="020F07020304040A0204"/>
                <a:ea typeface="Calibri (MS) Bold Italics" panose="020F07020304040A0204"/>
                <a:cs typeface="Calibri (MS) Bold Italics" panose="020F07020304040A0204"/>
                <a:sym typeface="Calibri (MS) Bold Italics" panose="020F07020304040A0204"/>
              </a:rPr>
              <a:t>No environmental benefit currently stated</a:t>
            </a:r>
            <a:endParaRPr lang="en-US" sz="2090" b="1" i="1">
              <a:solidFill>
                <a:srgbClr val="000000"/>
              </a:solidFill>
              <a:latin typeface="Calibri (MS) Bold Italics" panose="020F07020304040A0204"/>
              <a:ea typeface="Calibri (MS) Bold Italics" panose="020F07020304040A0204"/>
              <a:cs typeface="Calibri (MS) Bold Italics" panose="020F07020304040A0204"/>
              <a:sym typeface="Calibri (MS) Bold Italics" panose="020F07020304040A0204"/>
            </a:endParaRPr>
          </a:p>
        </p:txBody>
      </p:sp>
      <p:grpSp>
        <p:nvGrpSpPr>
          <p:cNvPr id="77" name="Group 77"/>
          <p:cNvGrpSpPr/>
          <p:nvPr/>
        </p:nvGrpSpPr>
        <p:grpSpPr>
          <a:xfrm rot="0">
            <a:off x="10851166" y="6064282"/>
            <a:ext cx="3096196" cy="2355533"/>
            <a:chOff x="0" y="0"/>
            <a:chExt cx="4128262" cy="314071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128262" cy="3140710"/>
            </a:xfrm>
            <a:custGeom>
              <a:avLst/>
              <a:gdLst/>
              <a:ahLst/>
              <a:cxnLst/>
              <a:rect l="l" t="t" r="r" b="b"/>
              <a:pathLst>
                <a:path w="4128262" h="31407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3980434" y="0"/>
                  </a:lnTo>
                  <a:cubicBezTo>
                    <a:pt x="4062095" y="0"/>
                    <a:pt x="4128262" y="66167"/>
                    <a:pt x="4128262" y="147828"/>
                  </a:cubicBezTo>
                  <a:lnTo>
                    <a:pt x="4128262" y="2992882"/>
                  </a:lnTo>
                  <a:cubicBezTo>
                    <a:pt x="4128262" y="3074543"/>
                    <a:pt x="4062095" y="3140710"/>
                    <a:pt x="3980434" y="3140710"/>
                  </a:cubicBezTo>
                  <a:lnTo>
                    <a:pt x="147828" y="3140710"/>
                  </a:lnTo>
                  <a:cubicBezTo>
                    <a:pt x="66167" y="3140710"/>
                    <a:pt x="0" y="3074543"/>
                    <a:pt x="0" y="2992882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5B2C6F"/>
              </a:solidFill>
              <a:prstDash val="solid"/>
              <a:miter/>
            </a:ln>
          </p:spPr>
        </p:sp>
      </p:grpSp>
      <p:grpSp>
        <p:nvGrpSpPr>
          <p:cNvPr id="79" name="Group 79"/>
          <p:cNvGrpSpPr/>
          <p:nvPr/>
        </p:nvGrpSpPr>
        <p:grpSpPr>
          <a:xfrm rot="0">
            <a:off x="12057983" y="6064282"/>
            <a:ext cx="576072" cy="576072"/>
            <a:chOff x="0" y="0"/>
            <a:chExt cx="768096" cy="76809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5B2C6F"/>
            </a:solidFill>
          </p:spPr>
        </p:sp>
      </p:grpSp>
      <p:grpSp>
        <p:nvGrpSpPr>
          <p:cNvPr id="81" name="Group 81"/>
          <p:cNvGrpSpPr/>
          <p:nvPr/>
        </p:nvGrpSpPr>
        <p:grpSpPr>
          <a:xfrm rot="0">
            <a:off x="12210383" y="6209857"/>
            <a:ext cx="322602" cy="322602"/>
            <a:chOff x="0" y="0"/>
            <a:chExt cx="430136" cy="430136"/>
          </a:xfrm>
        </p:grpSpPr>
        <p:sp>
          <p:nvSpPr>
            <p:cNvPr id="82" name="Freeform 82" descr="/home/claude/icons/operational.png"/>
            <p:cNvSpPr/>
            <p:nvPr/>
          </p:nvSpPr>
          <p:spPr>
            <a:xfrm>
              <a:off x="0" y="0"/>
              <a:ext cx="430149" cy="430149"/>
            </a:xfrm>
            <a:custGeom>
              <a:avLst/>
              <a:gdLst/>
              <a:ahLst/>
              <a:cxnLst/>
              <a:rect l="l" t="t" r="r" b="b"/>
              <a:pathLst>
                <a:path w="430149" h="430149">
                  <a:moveTo>
                    <a:pt x="0" y="0"/>
                  </a:moveTo>
                  <a:lnTo>
                    <a:pt x="430149" y="0"/>
                  </a:lnTo>
                  <a:lnTo>
                    <a:pt x="430149" y="430149"/>
                  </a:lnTo>
                  <a:lnTo>
                    <a:pt x="0" y="430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" b="2"/>
              </a:stretch>
            </a:blipFill>
          </p:spPr>
        </p:sp>
      </p:grpSp>
      <p:grpSp>
        <p:nvGrpSpPr>
          <p:cNvPr id="83" name="Group 83"/>
          <p:cNvGrpSpPr/>
          <p:nvPr/>
        </p:nvGrpSpPr>
        <p:grpSpPr>
          <a:xfrm rot="0">
            <a:off x="10892123" y="6682988"/>
            <a:ext cx="2907792" cy="392685"/>
            <a:chOff x="0" y="0"/>
            <a:chExt cx="3877056" cy="52358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877056" cy="523580"/>
            </a:xfrm>
            <a:custGeom>
              <a:avLst/>
              <a:gdLst/>
              <a:ahLst/>
              <a:cxnLst/>
              <a:rect l="l" t="t" r="r" b="b"/>
              <a:pathLst>
                <a:path w="3877056" h="523580">
                  <a:moveTo>
                    <a:pt x="0" y="0"/>
                  </a:moveTo>
                  <a:lnTo>
                    <a:pt x="3877056" y="0"/>
                  </a:lnTo>
                  <a:lnTo>
                    <a:pt x="3877056" y="523580"/>
                  </a:lnTo>
                  <a:lnTo>
                    <a:pt x="0" y="52358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5384" b="-93185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47625"/>
              <a:ext cx="3877056" cy="571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0"/>
                </a:lnSpc>
              </a:pPr>
              <a:r>
                <a:rPr lang="en-US" sz="1975" b="1">
                  <a:solidFill>
                    <a:srgbClr val="5B2C6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OPERATIONAL</a:t>
              </a:r>
              <a:endParaRPr lang="en-US" sz="1975" b="1">
                <a:solidFill>
                  <a:srgbClr val="5B2C6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067383" y="6955050"/>
            <a:ext cx="2715768" cy="137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9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Scalable architecture — integrates more satellites, sensors, and AI models over time.</a:t>
            </a:r>
            <a:endParaRPr lang="en-US" sz="199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87" name="Group 87"/>
          <p:cNvGrpSpPr/>
          <p:nvPr/>
        </p:nvGrpSpPr>
        <p:grpSpPr>
          <a:xfrm rot="0">
            <a:off x="14197870" y="6064282"/>
            <a:ext cx="3096196" cy="2355533"/>
            <a:chOff x="0" y="0"/>
            <a:chExt cx="4128262" cy="314071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128262" cy="3140710"/>
            </a:xfrm>
            <a:custGeom>
              <a:avLst/>
              <a:gdLst/>
              <a:ahLst/>
              <a:cxnLst/>
              <a:rect l="l" t="t" r="r" b="b"/>
              <a:pathLst>
                <a:path w="4128262" h="314071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3980434" y="0"/>
                  </a:lnTo>
                  <a:cubicBezTo>
                    <a:pt x="4062095" y="0"/>
                    <a:pt x="4128262" y="66167"/>
                    <a:pt x="4128262" y="147828"/>
                  </a:cubicBezTo>
                  <a:lnTo>
                    <a:pt x="4128262" y="2992882"/>
                  </a:lnTo>
                  <a:cubicBezTo>
                    <a:pt x="4128262" y="3074543"/>
                    <a:pt x="4062095" y="3140710"/>
                    <a:pt x="3980434" y="3140710"/>
                  </a:cubicBezTo>
                  <a:lnTo>
                    <a:pt x="147828" y="3140710"/>
                  </a:lnTo>
                  <a:cubicBezTo>
                    <a:pt x="66167" y="3140710"/>
                    <a:pt x="0" y="3074543"/>
                    <a:pt x="0" y="2992882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E8871E"/>
              </a:solidFill>
              <a:prstDash val="solid"/>
              <a:miter/>
            </a:ln>
          </p:spPr>
        </p:sp>
      </p:grpSp>
      <p:grpSp>
        <p:nvGrpSpPr>
          <p:cNvPr id="89" name="Group 89"/>
          <p:cNvGrpSpPr/>
          <p:nvPr/>
        </p:nvGrpSpPr>
        <p:grpSpPr>
          <a:xfrm rot="0">
            <a:off x="15296636" y="6064282"/>
            <a:ext cx="576072" cy="576072"/>
            <a:chOff x="0" y="0"/>
            <a:chExt cx="768096" cy="76809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E8871E"/>
            </a:solidFill>
          </p:spPr>
        </p:sp>
      </p:grpSp>
      <p:grpSp>
        <p:nvGrpSpPr>
          <p:cNvPr id="91" name="Group 91"/>
          <p:cNvGrpSpPr/>
          <p:nvPr/>
        </p:nvGrpSpPr>
        <p:grpSpPr>
          <a:xfrm rot="0">
            <a:off x="15423371" y="6209857"/>
            <a:ext cx="322602" cy="322602"/>
            <a:chOff x="0" y="0"/>
            <a:chExt cx="430136" cy="430136"/>
          </a:xfrm>
        </p:grpSpPr>
        <p:sp>
          <p:nvSpPr>
            <p:cNvPr id="92" name="Freeform 92" descr="/home/claude/icons/landmark.png"/>
            <p:cNvSpPr/>
            <p:nvPr/>
          </p:nvSpPr>
          <p:spPr>
            <a:xfrm>
              <a:off x="0" y="0"/>
              <a:ext cx="430149" cy="430149"/>
            </a:xfrm>
            <a:custGeom>
              <a:avLst/>
              <a:gdLst/>
              <a:ahLst/>
              <a:cxnLst/>
              <a:rect l="l" t="t" r="r" b="b"/>
              <a:pathLst>
                <a:path w="430149" h="430149">
                  <a:moveTo>
                    <a:pt x="0" y="0"/>
                  </a:moveTo>
                  <a:lnTo>
                    <a:pt x="430149" y="0"/>
                  </a:lnTo>
                  <a:lnTo>
                    <a:pt x="430149" y="430149"/>
                  </a:lnTo>
                  <a:lnTo>
                    <a:pt x="0" y="430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2" b="2"/>
              </a:stretch>
            </a:blipFill>
          </p:spPr>
        </p:sp>
      </p:grpSp>
      <p:grpSp>
        <p:nvGrpSpPr>
          <p:cNvPr id="93" name="Group 93"/>
          <p:cNvGrpSpPr/>
          <p:nvPr/>
        </p:nvGrpSpPr>
        <p:grpSpPr>
          <a:xfrm rot="0">
            <a:off x="14195012" y="6753878"/>
            <a:ext cx="2907792" cy="392685"/>
            <a:chOff x="0" y="0"/>
            <a:chExt cx="3877056" cy="52358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877056" cy="523580"/>
            </a:xfrm>
            <a:custGeom>
              <a:avLst/>
              <a:gdLst/>
              <a:ahLst/>
              <a:cxnLst/>
              <a:rect l="l" t="t" r="r" b="b"/>
              <a:pathLst>
                <a:path w="3877056" h="523580">
                  <a:moveTo>
                    <a:pt x="0" y="0"/>
                  </a:moveTo>
                  <a:lnTo>
                    <a:pt x="3877056" y="0"/>
                  </a:lnTo>
                  <a:lnTo>
                    <a:pt x="3877056" y="523580"/>
                  </a:lnTo>
                  <a:lnTo>
                    <a:pt x="0" y="52358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5384" b="-93185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47625"/>
              <a:ext cx="3877056" cy="571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0"/>
                </a:lnSpc>
              </a:pPr>
              <a:r>
                <a:rPr lang="en-US" sz="1975" b="1">
                  <a:solidFill>
                    <a:srgbClr val="E8871E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INSTITUTIONAL</a:t>
              </a:r>
              <a:endParaRPr lang="en-US" sz="1975" b="1">
                <a:solidFill>
                  <a:srgbClr val="E8871E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4290262" y="7061726"/>
            <a:ext cx="2715768" cy="1039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9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Helps coast guard and research bodies monitor ice hazards efficiently.</a:t>
            </a:r>
            <a:endParaRPr lang="en-US" sz="199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97" name="Group 97"/>
          <p:cNvGrpSpPr/>
          <p:nvPr/>
        </p:nvGrpSpPr>
        <p:grpSpPr>
          <a:xfrm rot="0">
            <a:off x="297344" y="62541"/>
            <a:ext cx="2096374" cy="1035658"/>
            <a:chOff x="0" y="0"/>
            <a:chExt cx="2795165" cy="1380877"/>
          </a:xfrm>
        </p:grpSpPr>
        <p:sp>
          <p:nvSpPr>
            <p:cNvPr id="98" name="Freeform 98" descr="Your startup LOGO"/>
            <p:cNvSpPr/>
            <p:nvPr/>
          </p:nvSpPr>
          <p:spPr>
            <a:xfrm>
              <a:off x="0" y="0"/>
              <a:ext cx="2795124" cy="1380890"/>
            </a:xfrm>
            <a:custGeom>
              <a:avLst/>
              <a:gdLst/>
              <a:ahLst/>
              <a:cxnLst/>
              <a:rect l="l" t="t" r="r" b="b"/>
              <a:pathLst>
                <a:path w="2795124" h="1380890">
                  <a:moveTo>
                    <a:pt x="0" y="690444"/>
                  </a:moveTo>
                  <a:cubicBezTo>
                    <a:pt x="0" y="309157"/>
                    <a:pt x="625755" y="0"/>
                    <a:pt x="1397562" y="0"/>
                  </a:cubicBezTo>
                  <a:cubicBezTo>
                    <a:pt x="2169368" y="0"/>
                    <a:pt x="2795124" y="309157"/>
                    <a:pt x="2795124" y="690444"/>
                  </a:cubicBezTo>
                  <a:cubicBezTo>
                    <a:pt x="2795124" y="1071730"/>
                    <a:pt x="2169368" y="1380890"/>
                    <a:pt x="1397562" y="1380890"/>
                  </a:cubicBezTo>
                  <a:cubicBezTo>
                    <a:pt x="625755" y="1380890"/>
                    <a:pt x="0" y="1071730"/>
                    <a:pt x="0" y="69044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0" y="-57150"/>
              <a:ext cx="2795165" cy="1438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id="100" name="Group 100"/>
          <p:cNvGrpSpPr/>
          <p:nvPr/>
        </p:nvGrpSpPr>
        <p:grpSpPr>
          <a:xfrm rot="0">
            <a:off x="530704" y="-674267"/>
            <a:ext cx="1863014" cy="2415056"/>
            <a:chOff x="0" y="0"/>
            <a:chExt cx="2606431" cy="3378759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2606431" cy="3378759"/>
            </a:xfrm>
            <a:custGeom>
              <a:avLst/>
              <a:gdLst/>
              <a:ahLst/>
              <a:cxnLst/>
              <a:rect l="l" t="t" r="r" b="b"/>
              <a:pathLst>
                <a:path w="2606431" h="3378759">
                  <a:moveTo>
                    <a:pt x="0" y="0"/>
                  </a:moveTo>
                  <a:lnTo>
                    <a:pt x="2606431" y="0"/>
                  </a:lnTo>
                  <a:lnTo>
                    <a:pt x="2606431" y="3378759"/>
                  </a:lnTo>
                  <a:lnTo>
                    <a:pt x="0" y="3378759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68134" r="-461319" b="-610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9525"/>
              <a:ext cx="2606431" cy="33882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000000"/>
                  </a:solidFill>
                  <a:latin typeface="Cambria Bold" panose="02040803050406030204"/>
                  <a:ea typeface="Cambria Bold" panose="02040803050406030204"/>
                  <a:cs typeface="Cambria Bold" panose="02040803050406030204"/>
                  <a:sym typeface="Cambria Bold" panose="02040803050406030204"/>
                </a:rPr>
                <a:t>NEXORA</a:t>
              </a:r>
              <a:endParaRPr lang="en-US" sz="3300" b="1">
                <a:solidFill>
                  <a:srgbClr val="000000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 rot="0">
            <a:off x="14913226" y="62541"/>
            <a:ext cx="3374774" cy="1479080"/>
            <a:chOff x="0" y="0"/>
            <a:chExt cx="4499699" cy="1972107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4499737" cy="1972145"/>
            </a:xfrm>
            <a:custGeom>
              <a:avLst/>
              <a:gdLst/>
              <a:ahLst/>
              <a:cxnLst/>
              <a:rect l="l" t="t" r="r" b="b"/>
              <a:pathLst>
                <a:path w="4499737" h="1972145">
                  <a:moveTo>
                    <a:pt x="0" y="0"/>
                  </a:moveTo>
                  <a:lnTo>
                    <a:pt x="4499737" y="0"/>
                  </a:lnTo>
                  <a:lnTo>
                    <a:pt x="4499737" y="1972145"/>
                  </a:lnTo>
                  <a:lnTo>
                    <a:pt x="0" y="1972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868" b="-3866"/>
              </a:stretch>
            </a:blipFill>
          </p:spPr>
        </p:sp>
      </p:grpSp>
      <p:grpSp>
        <p:nvGrpSpPr>
          <p:cNvPr id="105" name="Group 105"/>
          <p:cNvGrpSpPr/>
          <p:nvPr/>
        </p:nvGrpSpPr>
        <p:grpSpPr>
          <a:xfrm rot="0">
            <a:off x="0" y="9603589"/>
            <a:ext cx="18288000" cy="677763"/>
            <a:chOff x="0" y="0"/>
            <a:chExt cx="24384000" cy="90368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24384000" cy="903684"/>
            </a:xfrm>
            <a:custGeom>
              <a:avLst/>
              <a:gdLst/>
              <a:ahLst/>
              <a:cxnLst/>
              <a:rect l="l" t="t" r="r" b="b"/>
              <a:pathLst>
                <a:path w="24384000" h="903684">
                  <a:moveTo>
                    <a:pt x="0" y="0"/>
                  </a:moveTo>
                  <a:lnTo>
                    <a:pt x="24384000" y="0"/>
                  </a:lnTo>
                  <a:lnTo>
                    <a:pt x="24384000" y="903684"/>
                  </a:lnTo>
                  <a:lnTo>
                    <a:pt x="0" y="903684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107" name="TextBox 107"/>
          <p:cNvSpPr txBox="1"/>
          <p:nvPr/>
        </p:nvSpPr>
        <p:spPr>
          <a:xfrm>
            <a:off x="17303276" y="9701178"/>
            <a:ext cx="157192" cy="40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0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5</a:t>
            </a:r>
            <a:endParaRPr lang="en-US" sz="2225">
              <a:solidFill>
                <a:srgbClr val="000000"/>
              </a:solidFill>
              <a:latin typeface="Arial MT Pro" panose="020B0502020202020204"/>
              <a:ea typeface="Arial MT Pro" panose="020B0502020202020204"/>
              <a:cs typeface="Arial MT Pro" panose="020B0502020202020204"/>
              <a:sym typeface="Arial MT Pro" panose="020B0502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76108" y="271901"/>
            <a:ext cx="7558378" cy="68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5"/>
              </a:lnSpc>
            </a:pPr>
            <a:r>
              <a:rPr lang="en-US" sz="4455" b="1">
                <a:solidFill>
                  <a:srgbClr val="000000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rPr>
              <a:t>RESEARCH AND REFERENCES</a:t>
            </a:r>
            <a:endParaRPr lang="en-US" sz="4455" b="1">
              <a:solidFill>
                <a:srgbClr val="000000"/>
              </a:solidFill>
              <a:latin typeface="Cambria Bold" panose="02040803050406030204"/>
              <a:ea typeface="Cambria Bold" panose="02040803050406030204"/>
              <a:cs typeface="Cambria Bold" panose="02040803050406030204"/>
              <a:sym typeface="Cambria Bold" panose="0204080305040603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8859" y="1855946"/>
            <a:ext cx="16289188" cy="43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C1121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Evidence used to build and validate the POLAR-SAFE AI navigation system</a:t>
            </a:r>
            <a:endParaRPr lang="en-US" sz="2925">
              <a:solidFill>
                <a:srgbClr val="C1121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747817" y="2710739"/>
            <a:ext cx="10789777" cy="602018"/>
            <a:chOff x="0" y="0"/>
            <a:chExt cx="14386370" cy="8026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86432" cy="802715"/>
            </a:xfrm>
            <a:custGeom>
              <a:avLst/>
              <a:gdLst/>
              <a:ahLst/>
              <a:cxnLst/>
              <a:rect l="l" t="t" r="r" b="b"/>
              <a:pathLst>
                <a:path w="14386432" h="802715">
                  <a:moveTo>
                    <a:pt x="0" y="133808"/>
                  </a:moveTo>
                  <a:cubicBezTo>
                    <a:pt x="0" y="59916"/>
                    <a:pt x="58801" y="0"/>
                    <a:pt x="131318" y="0"/>
                  </a:cubicBezTo>
                  <a:lnTo>
                    <a:pt x="14255114" y="0"/>
                  </a:lnTo>
                  <a:cubicBezTo>
                    <a:pt x="14327631" y="0"/>
                    <a:pt x="14386432" y="59916"/>
                    <a:pt x="14386432" y="133808"/>
                  </a:cubicBezTo>
                  <a:lnTo>
                    <a:pt x="14386432" y="668908"/>
                  </a:lnTo>
                  <a:cubicBezTo>
                    <a:pt x="14386432" y="742800"/>
                    <a:pt x="14327631" y="802715"/>
                    <a:pt x="14255114" y="802715"/>
                  </a:cubicBezTo>
                  <a:lnTo>
                    <a:pt x="131318" y="802715"/>
                  </a:lnTo>
                  <a:cubicBezTo>
                    <a:pt x="58801" y="802715"/>
                    <a:pt x="0" y="742800"/>
                    <a:pt x="0" y="668908"/>
                  </a:cubicBezTo>
                  <a:close/>
                </a:path>
              </a:pathLst>
            </a:custGeom>
            <a:solidFill>
              <a:srgbClr val="1670A6"/>
            </a:solidFill>
            <a:ln w="14299" cap="sq">
              <a:solidFill>
                <a:srgbClr val="1670A6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386370" cy="802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 REFERENCES — SOURCE • CLAIM • USE</a:t>
              </a:r>
              <a:endParaRPr lang="en-US" sz="2625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84994" y="3378980"/>
          <a:ext cx="10752600" cy="5959003"/>
        </p:xfrm>
        <a:graphic>
          <a:graphicData uri="http://schemas.openxmlformats.org/drawingml/2006/table">
            <a:tbl>
              <a:tblPr/>
              <a:tblGrid>
                <a:gridCol w="3903810"/>
                <a:gridCol w="2123125"/>
                <a:gridCol w="4725665"/>
              </a:tblGrid>
              <a:tr h="686204">
                <a:tc>
                  <a:txBody>
                    <a:bodyPr rtlCol="0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33053"/>
                          </a:solidFill>
                          <a:latin typeface="League Spartan" panose="00000800000000000000"/>
                          <a:ea typeface="League Spartan" panose="00000800000000000000"/>
                          <a:cs typeface="League Spartan" panose="00000800000000000000"/>
                          <a:sym typeface="League Spartan" panose="00000800000000000000"/>
                        </a:rPr>
                        <a:t>REFERENCE SOURCE</a:t>
                      </a:r>
                      <a:endParaRPr lang="en-US" sz="1100"/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F6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33053"/>
                          </a:solidFill>
                          <a:latin typeface="League Spartan" panose="00000800000000000000"/>
                          <a:ea typeface="League Spartan" panose="00000800000000000000"/>
                          <a:cs typeface="League Spartan" panose="00000800000000000000"/>
                          <a:sym typeface="League Spartan" panose="00000800000000000000"/>
                        </a:rPr>
                        <a:t>TYPE</a:t>
                      </a:r>
                      <a:endParaRPr lang="en-US" sz="1100"/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F6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33053"/>
                          </a:solidFill>
                          <a:latin typeface="League Spartan" panose="00000800000000000000"/>
                          <a:ea typeface="League Spartan" panose="00000800000000000000"/>
                          <a:cs typeface="League Spartan" panose="00000800000000000000"/>
                          <a:sym typeface="League Spartan" panose="00000800000000000000"/>
                        </a:rPr>
                        <a:t>CLAIM / USE</a:t>
                      </a:r>
                      <a:endParaRPr lang="en-US" sz="1100"/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DF6"/>
                    </a:solidFill>
                  </a:tcPr>
                </a:tc>
              </a:tr>
              <a:tr h="867468">
                <a:tc>
                  <a:txBody>
                    <a:bodyPr rtlCol="0"/>
                    <a:lstStyle/>
                    <a:p>
                      <a:pPr algn="l">
                        <a:lnSpc>
                          <a:spcPts val="2490"/>
                        </a:lnSpc>
                        <a:defRPr/>
                      </a:pPr>
                      <a:r>
                        <a:rPr lang="en-US" sz="2075" b="1" u="sng">
                          <a:solidFill>
                            <a:srgbClr val="0000FF"/>
                          </a:solidFill>
                          <a:latin typeface="Canva Sans 2 Bold" panose="020B0803030501040103"/>
                          <a:ea typeface="Canva Sans 2 Bold" panose="020B0803030501040103"/>
                          <a:cs typeface="Canva Sans 2 Bold" panose="020B0803030501040103"/>
                          <a:sym typeface="Canva Sans 2 Bold" panose="020B0803030501040103"/>
                          <a:hlinkClick r:id="rId1" tooltip="https://www.mosdac.gov.in/sea-ice-occurrence-probability"/>
                        </a:rPr>
                        <a:t>ISRO–MOSDAC</a:t>
                      </a:r>
                      <a:endParaRPr lang="en-US" sz="1100"/>
                    </a:p>
                    <a:p>
                      <a:pPr algn="l">
                        <a:lnSpc>
                          <a:spcPts val="2490"/>
                        </a:lnSpc>
                      </a:pPr>
                      <a:r>
                        <a:rPr lang="en-US" sz="2075" b="1">
                          <a:solidFill>
                            <a:srgbClr val="1C7293"/>
                          </a:solidFill>
                          <a:latin typeface="Canva Sans 2 Bold" panose="020B0803030501040103"/>
                          <a:ea typeface="Canva Sans 2 Bold" panose="020B0803030501040103"/>
                          <a:cs typeface="Canva Sans 2 Bold" panose="020B0803030501040103"/>
                          <a:sym typeface="Canva Sans 2 Bold" panose="020B0803030501040103"/>
                        </a:rPr>
                        <a:t>Antarctic Sea-Ice Data</a:t>
                      </a:r>
                      <a:endParaRPr lang="en-US" sz="2075" b="1">
                        <a:solidFill>
                          <a:srgbClr val="1C7293"/>
                        </a:solidFill>
                        <a:latin typeface="Canva Sans 2 Bold" panose="020B0803030501040103"/>
                        <a:ea typeface="Canva Sans 2 Bold" panose="020B0803030501040103"/>
                        <a:cs typeface="Canva Sans 2 Bold" panose="020B0803030501040103"/>
                        <a:sym typeface="Canva Sans 2 Bold" panose="020B0803030501040103"/>
                      </a:endParaRPr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10"/>
                        </a:lnSpc>
                        <a:defRPr/>
                      </a:pPr>
                      <a:r>
                        <a:rPr lang="en-US" sz="2175" b="1">
                          <a:solidFill>
                            <a:srgbClr val="1C729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Government /</a:t>
                      </a:r>
                      <a:endParaRPr lang="en-US" sz="1100"/>
                    </a:p>
                    <a:p>
                      <a:pPr algn="l">
                        <a:lnSpc>
                          <a:spcPts val="2610"/>
                        </a:lnSpc>
                      </a:pPr>
                      <a:r>
                        <a:rPr lang="en-US" sz="2175" b="1">
                          <a:solidFill>
                            <a:srgbClr val="1C729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Satellite</a:t>
                      </a:r>
                      <a:endParaRPr lang="en-US" sz="2175" b="1">
                        <a:solidFill>
                          <a:srgbClr val="1C7293"/>
                        </a:solidFill>
                        <a:latin typeface="Aptos Bold" panose="020B0004020202020204"/>
                        <a:ea typeface="Aptos Bold" panose="020B0004020202020204"/>
                        <a:cs typeface="Aptos Bold" panose="020B0004020202020204"/>
                        <a:sym typeface="Aptos Bold" panose="020B0004020202020204"/>
                      </a:endParaRPr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Arial Nova Bold" panose="020B0804020202020204"/>
                          <a:ea typeface="Arial Nova Bold" panose="020B0804020202020204"/>
                          <a:cs typeface="Arial Nova Bold" panose="020B0804020202020204"/>
                          <a:sym typeface="Arial Nova Bold" panose="020B0804020202020204"/>
                        </a:rPr>
                        <a:t>Sea-ice analysis and historical ice patterns</a:t>
                      </a:r>
                      <a:endParaRPr lang="en-US" sz="1100"/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131">
                <a:tc>
                  <a:txBody>
                    <a:bodyPr rtlCol="0"/>
                    <a:lstStyle/>
                    <a:p>
                      <a:pPr algn="l">
                        <a:lnSpc>
                          <a:spcPts val="2730"/>
                        </a:lnSpc>
                        <a:defRPr/>
                      </a:pPr>
                      <a:r>
                        <a:rPr lang="en-US" sz="2275" b="1" u="sng">
                          <a:solidFill>
                            <a:srgbClr val="0000FF"/>
                          </a:solidFill>
                          <a:latin typeface="Canva Sans 2 Bold" panose="020B0803030501040103"/>
                          <a:ea typeface="Canva Sans 2 Bold" panose="020B0803030501040103"/>
                          <a:cs typeface="Canva Sans 2 Bold" panose="020B0803030501040103"/>
                          <a:sym typeface="Canva Sans 2 Bold" panose="020B0803030501040103"/>
                          <a:hlinkClick r:id="rId2" tooltip="https://nsidc.org/data/seaice_index"/>
                        </a:rPr>
                        <a:t>NSIDC</a:t>
                      </a:r>
                      <a:endParaRPr lang="en-US" sz="1100"/>
                    </a:p>
                    <a:p>
                      <a:pPr algn="l">
                        <a:lnSpc>
                          <a:spcPts val="2610"/>
                        </a:lnSpc>
                      </a:pPr>
                      <a:r>
                        <a:rPr lang="en-US" sz="2175" b="1">
                          <a:solidFill>
                            <a:srgbClr val="1C7293"/>
                          </a:solidFill>
                          <a:latin typeface="Canva Sans 2 Bold" panose="020B0803030501040103"/>
                          <a:ea typeface="Canva Sans 2 Bold" panose="020B0803030501040103"/>
                          <a:cs typeface="Canva Sans 2 Bold" panose="020B0803030501040103"/>
                          <a:sym typeface="Canva Sans 2 Bold" panose="020B0803030501040103"/>
                        </a:rPr>
                        <a:t>Sea Ice Index</a:t>
                      </a:r>
                      <a:endParaRPr lang="en-US" sz="2175" b="1">
                        <a:solidFill>
                          <a:srgbClr val="1C7293"/>
                        </a:solidFill>
                        <a:latin typeface="Canva Sans 2 Bold" panose="020B0803030501040103"/>
                        <a:ea typeface="Canva Sans 2 Bold" panose="020B0803030501040103"/>
                        <a:cs typeface="Canva Sans 2 Bold" panose="020B0803030501040103"/>
                        <a:sym typeface="Canva Sans 2 Bold" panose="020B0803030501040103"/>
                      </a:endParaRPr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10"/>
                        </a:lnSpc>
                        <a:defRPr/>
                      </a:pPr>
                      <a:r>
                        <a:rPr lang="en-US" sz="2175" b="1">
                          <a:solidFill>
                            <a:srgbClr val="1C729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Research /</a:t>
                      </a:r>
                      <a:endParaRPr lang="en-US" sz="1100"/>
                    </a:p>
                    <a:p>
                      <a:pPr algn="l">
                        <a:lnSpc>
                          <a:spcPts val="2610"/>
                        </a:lnSpc>
                      </a:pPr>
                      <a:r>
                        <a:rPr lang="en-US" sz="2175" b="1">
                          <a:solidFill>
                            <a:srgbClr val="1C729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Dataset</a:t>
                      </a:r>
                      <a:endParaRPr lang="en-US" sz="2175" b="1">
                        <a:solidFill>
                          <a:srgbClr val="1C7293"/>
                        </a:solidFill>
                        <a:latin typeface="Aptos Bold" panose="020B0004020202020204"/>
                        <a:ea typeface="Aptos Bold" panose="020B0004020202020204"/>
                        <a:cs typeface="Aptos Bold" panose="020B0004020202020204"/>
                        <a:sym typeface="Aptos Bold" panose="020B0004020202020204"/>
                      </a:endParaRPr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Arial Nova Bold" panose="020B0804020202020204"/>
                          <a:ea typeface="Arial Nova Bold" panose="020B0804020202020204"/>
                          <a:cs typeface="Arial Nova Bold" panose="020B0804020202020204"/>
                          <a:sym typeface="Arial Nova Bold" panose="020B0804020202020204"/>
                        </a:rPr>
                        <a:t>Sea-ice concentration, extent and trends</a:t>
                      </a:r>
                      <a:endParaRPr lang="en-US" sz="1100"/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884780">
                <a:tc>
                  <a:txBody>
                    <a:bodyPr rtlCol="0"/>
                    <a:lstStyle/>
                    <a:p>
                      <a:pPr algn="l">
                        <a:lnSpc>
                          <a:spcPts val="2610"/>
                        </a:lnSpc>
                        <a:defRPr/>
                      </a:pPr>
                      <a:r>
                        <a:rPr lang="en-US" sz="2175" b="1">
                          <a:solidFill>
                            <a:srgbClr val="1C7293"/>
                          </a:solidFill>
                          <a:latin typeface="Canva Sans 2 Bold" panose="020B0803030501040103"/>
                          <a:ea typeface="Canva Sans 2 Bold" panose="020B0803030501040103"/>
                          <a:cs typeface="Canva Sans 2 Bold" panose="020B0803030501040103"/>
                          <a:sym typeface="Canva Sans 2 Bold" panose="020B0803030501040103"/>
                        </a:rPr>
                        <a:t>ESA Sentinel-1</a:t>
                      </a:r>
                      <a:endParaRPr lang="en-US" sz="1100"/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10"/>
                        </a:lnSpc>
                        <a:defRPr/>
                      </a:pPr>
                      <a:r>
                        <a:rPr lang="en-US" sz="2175" b="1">
                          <a:solidFill>
                            <a:srgbClr val="1C729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Satellite</a:t>
                      </a:r>
                      <a:endParaRPr lang="en-US" sz="1100"/>
                    </a:p>
                    <a:p>
                      <a:pPr algn="l">
                        <a:lnSpc>
                          <a:spcPts val="2610"/>
                        </a:lnSpc>
                      </a:pPr>
                      <a:r>
                        <a:rPr lang="en-US" sz="2175" b="1">
                          <a:solidFill>
                            <a:srgbClr val="1C729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Product</a:t>
                      </a:r>
                      <a:endParaRPr lang="en-US" sz="2175" b="1">
                        <a:solidFill>
                          <a:srgbClr val="1C7293"/>
                        </a:solidFill>
                        <a:latin typeface="Aptos Bold" panose="020B0004020202020204"/>
                        <a:ea typeface="Aptos Bold" panose="020B0004020202020204"/>
                        <a:cs typeface="Aptos Bold" panose="020B0004020202020204"/>
                        <a:sym typeface="Aptos Bold" panose="020B0004020202020204"/>
                      </a:endParaRPr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Arial Nova Bold" panose="020B0804020202020204"/>
                          <a:ea typeface="Arial Nova Bold" panose="020B0804020202020204"/>
                          <a:cs typeface="Arial Nova Bold" panose="020B0804020202020204"/>
                          <a:sym typeface="Arial Nova Bold" panose="020B0804020202020204"/>
                        </a:rPr>
                        <a:t>Ice observation and monitoring</a:t>
                      </a:r>
                      <a:endParaRPr lang="en-US" sz="1100"/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7468">
                <a:tc>
                  <a:txBody>
                    <a:bodyPr rtlCol="0"/>
                    <a:lstStyle/>
                    <a:p>
                      <a:pPr algn="l">
                        <a:lnSpc>
                          <a:spcPts val="2490"/>
                        </a:lnSpc>
                        <a:defRPr/>
                      </a:pPr>
                      <a:r>
                        <a:rPr lang="en-US" sz="2075" b="1">
                          <a:solidFill>
                            <a:srgbClr val="1C729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Copernicus Marine</a:t>
                      </a:r>
                      <a:endParaRPr lang="en-US" sz="1100"/>
                    </a:p>
                    <a:p>
                      <a:pPr algn="l">
                        <a:lnSpc>
                          <a:spcPts val="2490"/>
                        </a:lnSpc>
                      </a:pPr>
                      <a:r>
                        <a:rPr lang="en-US" sz="2075" b="1">
                          <a:solidFill>
                            <a:srgbClr val="1C729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Service</a:t>
                      </a:r>
                      <a:endParaRPr lang="en-US" sz="2075" b="1">
                        <a:solidFill>
                          <a:srgbClr val="1C7293"/>
                        </a:solidFill>
                        <a:latin typeface="Aptos Bold" panose="020B0004020202020204"/>
                        <a:ea typeface="Aptos Bold" panose="020B0004020202020204"/>
                        <a:cs typeface="Aptos Bold" panose="020B0004020202020204"/>
                        <a:sym typeface="Aptos Bold" panose="020B0004020202020204"/>
                      </a:endParaRPr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10"/>
                        </a:lnSpc>
                        <a:defRPr/>
                      </a:pPr>
                      <a:r>
                        <a:rPr lang="en-US" sz="2175" b="1">
                          <a:solidFill>
                            <a:srgbClr val="065A82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Operational</a:t>
                      </a:r>
                      <a:endParaRPr lang="en-US" sz="1100"/>
                    </a:p>
                    <a:p>
                      <a:pPr algn="l">
                        <a:lnSpc>
                          <a:spcPts val="2610"/>
                        </a:lnSpc>
                      </a:pPr>
                      <a:r>
                        <a:rPr lang="en-US" sz="2175" b="1">
                          <a:solidFill>
                            <a:srgbClr val="065A82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Dataset</a:t>
                      </a:r>
                      <a:endParaRPr lang="en-US" sz="2175" b="1">
                        <a:solidFill>
                          <a:srgbClr val="065A82"/>
                        </a:solidFill>
                        <a:latin typeface="Aptos Bold" panose="020B0004020202020204"/>
                        <a:ea typeface="Aptos Bold" panose="020B0004020202020204"/>
                        <a:cs typeface="Aptos Bold" panose="020B0004020202020204"/>
                        <a:sym typeface="Aptos Bold" panose="020B0004020202020204"/>
                      </a:endParaRPr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Arial Nova Bold" panose="020B0804020202020204"/>
                          <a:ea typeface="Arial Nova Bold" panose="020B0804020202020204"/>
                          <a:cs typeface="Arial Nova Bold" panose="020B0804020202020204"/>
                          <a:sym typeface="Arial Nova Bold" panose="020B0804020202020204"/>
                        </a:rPr>
                        <a:t>Sea-ice and ocean environmental data</a:t>
                      </a:r>
                      <a:endParaRPr lang="en-US" sz="1100"/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870484">
                <a:tc>
                  <a:txBody>
                    <a:bodyPr rtlCol="0"/>
                    <a:lstStyle/>
                    <a:p>
                      <a:pPr algn="l">
                        <a:lnSpc>
                          <a:spcPts val="2490"/>
                        </a:lnSpc>
                        <a:defRPr/>
                      </a:pPr>
                      <a:r>
                        <a:rPr lang="en-US" sz="2075" b="1" u="sng">
                          <a:solidFill>
                            <a:srgbClr val="0000FF"/>
                          </a:solidFill>
                          <a:latin typeface="Canva Sans 2 Bold" panose="020B0803030501040103"/>
                          <a:ea typeface="Canva Sans 2 Bold" panose="020B0803030501040103"/>
                          <a:cs typeface="Canva Sans 2 Bold" panose="020B0803030501040103"/>
                          <a:sym typeface="Canva Sans 2 Bold" panose="020B0803030501040103"/>
                          <a:hlinkClick r:id="rId3" tooltip="https://www.imo.org/en/ourwork/safety/pages/polar-code.aspx"/>
                        </a:rPr>
                        <a:t>IMO Polar Code</a:t>
                      </a:r>
                      <a:endParaRPr lang="en-US" sz="1100"/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10"/>
                        </a:lnSpc>
                        <a:defRPr/>
                      </a:pPr>
                      <a:r>
                        <a:rPr lang="en-US" sz="2175" b="1">
                          <a:solidFill>
                            <a:srgbClr val="065A82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International</a:t>
                      </a:r>
                      <a:endParaRPr lang="en-US" sz="1100"/>
                    </a:p>
                    <a:p>
                      <a:pPr algn="l">
                        <a:lnSpc>
                          <a:spcPts val="2610"/>
                        </a:lnSpc>
                      </a:pPr>
                      <a:r>
                        <a:rPr lang="en-US" sz="2175" b="1">
                          <a:solidFill>
                            <a:srgbClr val="065A82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Standard</a:t>
                      </a:r>
                      <a:endParaRPr lang="en-US" sz="2175" b="1">
                        <a:solidFill>
                          <a:srgbClr val="065A82"/>
                        </a:solidFill>
                        <a:latin typeface="Aptos Bold" panose="020B0004020202020204"/>
                        <a:ea typeface="Aptos Bold" panose="020B0004020202020204"/>
                        <a:cs typeface="Aptos Bold" panose="020B0004020202020204"/>
                        <a:sym typeface="Aptos Bold" panose="020B0004020202020204"/>
                      </a:endParaRPr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Arial Nova Bold" panose="020B0804020202020204"/>
                          <a:ea typeface="Arial Nova Bold" panose="020B0804020202020204"/>
                          <a:cs typeface="Arial Nova Bold" panose="020B0804020202020204"/>
                          <a:sym typeface="Arial Nova Bold" panose="020B0804020202020204"/>
                        </a:rPr>
                        <a:t>Polar navigation and voyage-planning safety</a:t>
                      </a:r>
                      <a:endParaRPr lang="en-US" sz="1100"/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7468">
                <a:tc>
                  <a:txBody>
                    <a:bodyPr rtlCol="0"/>
                    <a:lstStyle/>
                    <a:p>
                      <a:pPr algn="l">
                        <a:lnSpc>
                          <a:spcPts val="2490"/>
                        </a:lnSpc>
                        <a:defRPr/>
                      </a:pPr>
                      <a:r>
                        <a:rPr lang="en-US" sz="2075" b="1" u="sng">
                          <a:solidFill>
                            <a:srgbClr val="0000FF"/>
                          </a:solidFill>
                          <a:latin typeface="Canva Sans 2 Bold" panose="020B0803030501040103"/>
                          <a:ea typeface="Canva Sans 2 Bold" panose="020B0803030501040103"/>
                          <a:cs typeface="Canva Sans 2 Bold" panose="020B0803030501040103"/>
                          <a:sym typeface="Canva Sans 2 Bold" panose="020B0803030501040103"/>
                          <a:hlinkClick r:id="rId4" tooltip="https://community.wmo.int/site/knowledge-hub/programmes-and-initiatives/marine-services/sea-ice-guidance"/>
                        </a:rPr>
                        <a:t>WMO Sea-Ice</a:t>
                      </a:r>
                      <a:endParaRPr lang="en-US" sz="1100"/>
                    </a:p>
                    <a:p>
                      <a:pPr algn="l">
                        <a:lnSpc>
                          <a:spcPts val="2490"/>
                        </a:lnSpc>
                      </a:pPr>
                      <a:r>
                        <a:rPr lang="en-US" sz="2075" b="1">
                          <a:solidFill>
                            <a:srgbClr val="1C7293"/>
                          </a:solidFill>
                          <a:latin typeface="Canva Sans 2 Bold" panose="020B0803030501040103"/>
                          <a:ea typeface="Canva Sans 2 Bold" panose="020B0803030501040103"/>
                          <a:cs typeface="Canva Sans 2 Bold" panose="020B0803030501040103"/>
                          <a:sym typeface="Canva Sans 2 Bold" panose="020B0803030501040103"/>
                        </a:rPr>
                        <a:t>Guidance</a:t>
                      </a:r>
                      <a:endParaRPr lang="en-US" sz="2075" b="1">
                        <a:solidFill>
                          <a:srgbClr val="1C7293"/>
                        </a:solidFill>
                        <a:latin typeface="Canva Sans 2 Bold" panose="020B0803030501040103"/>
                        <a:ea typeface="Canva Sans 2 Bold" panose="020B0803030501040103"/>
                        <a:cs typeface="Canva Sans 2 Bold" panose="020B0803030501040103"/>
                        <a:sym typeface="Canva Sans 2 Bold" panose="020B0803030501040103"/>
                      </a:endParaRPr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610"/>
                        </a:lnSpc>
                        <a:defRPr/>
                      </a:pPr>
                      <a:r>
                        <a:rPr lang="en-US" sz="2175" b="1">
                          <a:solidFill>
                            <a:srgbClr val="1C729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International</a:t>
                      </a:r>
                      <a:endParaRPr lang="en-US" sz="1100"/>
                    </a:p>
                    <a:p>
                      <a:pPr algn="l">
                        <a:lnSpc>
                          <a:spcPts val="2610"/>
                        </a:lnSpc>
                      </a:pPr>
                      <a:r>
                        <a:rPr lang="en-US" sz="2175" b="1">
                          <a:solidFill>
                            <a:srgbClr val="1C729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Standard</a:t>
                      </a:r>
                      <a:endParaRPr lang="en-US" sz="2175" b="1">
                        <a:solidFill>
                          <a:srgbClr val="1C7293"/>
                        </a:solidFill>
                        <a:latin typeface="Aptos Bold" panose="020B0004020202020204"/>
                        <a:ea typeface="Aptos Bold" panose="020B0004020202020204"/>
                        <a:cs typeface="Aptos Bold" panose="020B0004020202020204"/>
                        <a:sym typeface="Aptos Bold" panose="020B0004020202020204"/>
                      </a:endParaRPr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000000"/>
                          </a:solidFill>
                          <a:latin typeface="Arial Nova Bold" panose="020B0804020202020204"/>
                          <a:ea typeface="Arial Nova Bold" panose="020B0804020202020204"/>
                          <a:cs typeface="Arial Nova Bold" panose="020B0804020202020204"/>
                          <a:sym typeface="Arial Nova Bold" panose="020B0804020202020204"/>
                        </a:rPr>
                        <a:t>Standardized sea-ice information and reporting</a:t>
                      </a:r>
                      <a:endParaRPr lang="en-US" sz="1100"/>
                    </a:p>
                  </a:txBody>
                  <a:tcPr marL="64008" marR="64008" marT="64008" marB="64008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 rot="0">
            <a:off x="11866464" y="2710739"/>
            <a:ext cx="5710885" cy="590821"/>
            <a:chOff x="0" y="0"/>
            <a:chExt cx="7614514" cy="7877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14539" cy="787787"/>
            </a:xfrm>
            <a:custGeom>
              <a:avLst/>
              <a:gdLst/>
              <a:ahLst/>
              <a:cxnLst/>
              <a:rect l="l" t="t" r="r" b="b"/>
              <a:pathLst>
                <a:path w="7614539" h="787787">
                  <a:moveTo>
                    <a:pt x="0" y="131319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7483221" y="0"/>
                  </a:lnTo>
                  <a:cubicBezTo>
                    <a:pt x="7555738" y="0"/>
                    <a:pt x="7614539" y="58801"/>
                    <a:pt x="7614539" y="131319"/>
                  </a:cubicBezTo>
                  <a:lnTo>
                    <a:pt x="7614539" y="656468"/>
                  </a:lnTo>
                  <a:cubicBezTo>
                    <a:pt x="7614539" y="728985"/>
                    <a:pt x="7555738" y="787787"/>
                    <a:pt x="7483221" y="787787"/>
                  </a:cubicBezTo>
                  <a:lnTo>
                    <a:pt x="131318" y="787787"/>
                  </a:lnTo>
                  <a:cubicBezTo>
                    <a:pt x="58801" y="787787"/>
                    <a:pt x="0" y="728985"/>
                    <a:pt x="0" y="656468"/>
                  </a:cubicBezTo>
                  <a:close/>
                </a:path>
              </a:pathLst>
            </a:custGeom>
            <a:solidFill>
              <a:srgbClr val="1670A6"/>
            </a:solidFill>
            <a:ln w="14299" cap="sq">
              <a:solidFill>
                <a:srgbClr val="1670A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7614514" cy="787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0"/>
                </a:lnSpc>
              </a:pPr>
              <a:r>
                <a:rPr lang="en-US" sz="2225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WHAT DATA WILL WE USE?</a:t>
              </a:r>
              <a:endParaRPr lang="en-US" sz="2225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1866464" y="3355896"/>
            <a:ext cx="5710885" cy="3037839"/>
            <a:chOff x="0" y="0"/>
            <a:chExt cx="7614514" cy="40504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14539" cy="4050503"/>
            </a:xfrm>
            <a:custGeom>
              <a:avLst/>
              <a:gdLst/>
              <a:ahLst/>
              <a:cxnLst/>
              <a:rect l="l" t="t" r="r" b="b"/>
              <a:pathLst>
                <a:path w="7614539" h="4050503">
                  <a:moveTo>
                    <a:pt x="0" y="675108"/>
                  </a:moveTo>
                  <a:cubicBezTo>
                    <a:pt x="0" y="302254"/>
                    <a:pt x="274574" y="0"/>
                    <a:pt x="613283" y="0"/>
                  </a:cubicBezTo>
                  <a:lnTo>
                    <a:pt x="7001256" y="0"/>
                  </a:lnTo>
                  <a:cubicBezTo>
                    <a:pt x="7339965" y="0"/>
                    <a:pt x="7614539" y="302254"/>
                    <a:pt x="7614539" y="675108"/>
                  </a:cubicBezTo>
                  <a:lnTo>
                    <a:pt x="7614539" y="3375400"/>
                  </a:lnTo>
                  <a:cubicBezTo>
                    <a:pt x="7614539" y="3748254"/>
                    <a:pt x="7339965" y="4050503"/>
                    <a:pt x="7001256" y="4050503"/>
                  </a:cubicBezTo>
                  <a:lnTo>
                    <a:pt x="613283" y="4050503"/>
                  </a:lnTo>
                  <a:cubicBezTo>
                    <a:pt x="274574" y="4050503"/>
                    <a:pt x="0" y="3748254"/>
                    <a:pt x="0" y="337540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2D3D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614514" cy="4098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53390" lvl="1" indent="-226695" algn="l">
                <a:lnSpc>
                  <a:spcPts val="2520"/>
                </a:lnSpc>
                <a:buFont typeface="Arial" panose="020B0604020202020204"/>
                <a:buChar char="•"/>
              </a:pPr>
              <a:r>
                <a:rPr lang="en-US" sz="2100" b="1">
                  <a:solidFill>
                    <a:srgbClr val="5B2C6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Antarctic sea-ice concentration</a:t>
              </a:r>
              <a:endParaRPr lang="en-US" sz="2100" b="1">
                <a:solidFill>
                  <a:srgbClr val="5B2C6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  <a:p>
              <a:pPr algn="l">
                <a:lnSpc>
                  <a:spcPts val="2520"/>
                </a:lnSpc>
              </a:pPr>
            </a:p>
            <a:p>
              <a:pPr marL="453390" lvl="1" indent="-226695" algn="l">
                <a:lnSpc>
                  <a:spcPts val="2520"/>
                </a:lnSpc>
                <a:buFont typeface="Arial" panose="020B0604020202020204"/>
                <a:buChar char="•"/>
              </a:pPr>
              <a:r>
                <a:rPr lang="en-US" sz="2100" b="1">
                  <a:solidFill>
                    <a:srgbClr val="5B2C6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  Sea-ice extent and trend data</a:t>
              </a:r>
              <a:endParaRPr lang="en-US" sz="2100" b="1">
                <a:solidFill>
                  <a:srgbClr val="5B2C6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  <a:p>
              <a:pPr algn="l">
                <a:lnSpc>
                  <a:spcPts val="2520"/>
                </a:lnSpc>
              </a:pPr>
            </a:p>
            <a:p>
              <a:pPr marL="453390" lvl="1" indent="-226695" algn="l">
                <a:lnSpc>
                  <a:spcPts val="2520"/>
                </a:lnSpc>
                <a:buFont typeface="Arial" panose="020B0604020202020204"/>
                <a:buChar char="•"/>
              </a:pPr>
              <a:r>
                <a:rPr lang="en-US" sz="2100" b="1">
                  <a:solidFill>
                    <a:srgbClr val="5B2C6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Satellite-derived ice observations</a:t>
              </a:r>
              <a:endParaRPr lang="en-US" sz="2100" b="1">
                <a:solidFill>
                  <a:srgbClr val="5B2C6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  <a:p>
              <a:pPr algn="l">
                <a:lnSpc>
                  <a:spcPts val="2520"/>
                </a:lnSpc>
              </a:pPr>
            </a:p>
            <a:p>
              <a:pPr marL="453390" lvl="1" indent="-226695" algn="l">
                <a:lnSpc>
                  <a:spcPts val="2520"/>
                </a:lnSpc>
                <a:buFont typeface="Arial" panose="020B0604020202020204"/>
                <a:buChar char="•"/>
              </a:pPr>
              <a:r>
                <a:rPr lang="en-US" sz="2100" b="1">
                  <a:solidFill>
                    <a:srgbClr val="5B2C6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Ocean / environmental observations</a:t>
              </a:r>
              <a:endParaRPr lang="en-US" sz="2100" b="1">
                <a:solidFill>
                  <a:srgbClr val="5B2C6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  <a:p>
              <a:pPr algn="l">
                <a:lnSpc>
                  <a:spcPts val="2520"/>
                </a:lnSpc>
              </a:pPr>
            </a:p>
            <a:p>
              <a:pPr marL="453390" lvl="1" indent="-226695" algn="l">
                <a:lnSpc>
                  <a:spcPts val="2520"/>
                </a:lnSpc>
                <a:buFont typeface="Arial" panose="020B0604020202020204"/>
                <a:buChar char="•"/>
              </a:pPr>
              <a:r>
                <a:rPr lang="en-US" sz="2100" b="1">
                  <a:solidFill>
                    <a:srgbClr val="5B2C6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Iceberg position and trajectory information</a:t>
              </a:r>
              <a:endParaRPr lang="en-US" sz="2100" b="1">
                <a:solidFill>
                  <a:srgbClr val="5B2C6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1866464" y="6348327"/>
            <a:ext cx="5710885" cy="590821"/>
            <a:chOff x="0" y="0"/>
            <a:chExt cx="7614514" cy="7877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14539" cy="787787"/>
            </a:xfrm>
            <a:custGeom>
              <a:avLst/>
              <a:gdLst/>
              <a:ahLst/>
              <a:cxnLst/>
              <a:rect l="l" t="t" r="r" b="b"/>
              <a:pathLst>
                <a:path w="7614539" h="787787">
                  <a:moveTo>
                    <a:pt x="0" y="131319"/>
                  </a:moveTo>
                  <a:cubicBezTo>
                    <a:pt x="0" y="58801"/>
                    <a:pt x="58801" y="0"/>
                    <a:pt x="131318" y="0"/>
                  </a:cubicBezTo>
                  <a:lnTo>
                    <a:pt x="7483221" y="0"/>
                  </a:lnTo>
                  <a:cubicBezTo>
                    <a:pt x="7555738" y="0"/>
                    <a:pt x="7614539" y="58801"/>
                    <a:pt x="7614539" y="131319"/>
                  </a:cubicBezTo>
                  <a:lnTo>
                    <a:pt x="7614539" y="656468"/>
                  </a:lnTo>
                  <a:cubicBezTo>
                    <a:pt x="7614539" y="728985"/>
                    <a:pt x="7555738" y="787787"/>
                    <a:pt x="7483221" y="787787"/>
                  </a:cubicBezTo>
                  <a:lnTo>
                    <a:pt x="131318" y="787787"/>
                  </a:lnTo>
                  <a:cubicBezTo>
                    <a:pt x="58801" y="787787"/>
                    <a:pt x="0" y="728985"/>
                    <a:pt x="0" y="656468"/>
                  </a:cubicBezTo>
                  <a:close/>
                </a:path>
              </a:pathLst>
            </a:custGeom>
            <a:solidFill>
              <a:srgbClr val="1E8449"/>
            </a:solidFill>
            <a:ln w="14299" cap="sq">
              <a:solidFill>
                <a:srgbClr val="1670A6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7614514" cy="787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0"/>
                </a:lnSpc>
              </a:pPr>
              <a:r>
                <a:rPr lang="en-US" sz="2225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HOW DO WE VERIFY THE RESULT?</a:t>
              </a:r>
              <a:endParaRPr lang="en-US" sz="2225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1866464" y="6993484"/>
            <a:ext cx="5710885" cy="1551692"/>
            <a:chOff x="0" y="0"/>
            <a:chExt cx="7614514" cy="20689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14539" cy="2068833"/>
            </a:xfrm>
            <a:custGeom>
              <a:avLst/>
              <a:gdLst/>
              <a:ahLst/>
              <a:cxnLst/>
              <a:rect l="l" t="t" r="r" b="b"/>
              <a:pathLst>
                <a:path w="7614539" h="2068833">
                  <a:moveTo>
                    <a:pt x="0" y="344806"/>
                  </a:moveTo>
                  <a:cubicBezTo>
                    <a:pt x="0" y="154432"/>
                    <a:pt x="154432" y="0"/>
                    <a:pt x="344805" y="0"/>
                  </a:cubicBezTo>
                  <a:lnTo>
                    <a:pt x="7269734" y="0"/>
                  </a:lnTo>
                  <a:cubicBezTo>
                    <a:pt x="7460234" y="0"/>
                    <a:pt x="7614539" y="154432"/>
                    <a:pt x="7614539" y="344806"/>
                  </a:cubicBezTo>
                  <a:lnTo>
                    <a:pt x="7614539" y="1724028"/>
                  </a:lnTo>
                  <a:cubicBezTo>
                    <a:pt x="7614539" y="1914528"/>
                    <a:pt x="7460107" y="2068833"/>
                    <a:pt x="7269734" y="2068833"/>
                  </a:cubicBezTo>
                  <a:lnTo>
                    <a:pt x="344805" y="2068833"/>
                  </a:lnTo>
                  <a:cubicBezTo>
                    <a:pt x="154305" y="2068833"/>
                    <a:pt x="0" y="1914401"/>
                    <a:pt x="0" y="1724028"/>
                  </a:cubicBezTo>
                  <a:close/>
                </a:path>
              </a:pathLst>
            </a:custGeom>
            <a:solidFill>
              <a:srgbClr val="EAF4F8"/>
            </a:solidFill>
            <a:ln w="14299" cap="sq">
              <a:solidFill>
                <a:srgbClr val="9FC2D3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7614514" cy="2078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0"/>
                </a:lnSpc>
              </a:pPr>
              <a:r>
                <a:rPr lang="en-US" sz="2125" b="1">
                  <a:solidFill>
                    <a:srgbClr val="13305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DATA SOURCES  →  AI ANALYSIS</a:t>
              </a:r>
              <a:endParaRPr lang="en-US" sz="2125" b="1">
                <a:solidFill>
                  <a:srgbClr val="13305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2550"/>
                </a:lnSpc>
              </a:pPr>
              <a:r>
                <a:rPr lang="en-US" sz="2125" b="1">
                  <a:solidFill>
                    <a:srgbClr val="13305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AI OUTPUT  →  CROSS-CHECK</a:t>
              </a:r>
              <a:endParaRPr lang="en-US" sz="2125" b="1">
                <a:solidFill>
                  <a:srgbClr val="13305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2550"/>
                </a:lnSpc>
              </a:pPr>
              <a:r>
                <a:rPr lang="en-US" sz="2125" b="1">
                  <a:solidFill>
                    <a:srgbClr val="13305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CROSS-CHECK  →  SAFE ROUTE DECISION</a:t>
              </a:r>
              <a:endParaRPr lang="en-US" sz="2125" b="1">
                <a:solidFill>
                  <a:srgbClr val="13305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14202575" y="376866"/>
            <a:ext cx="3374774" cy="1479080"/>
            <a:chOff x="0" y="0"/>
            <a:chExt cx="4499699" cy="19721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99737" cy="1972145"/>
            </a:xfrm>
            <a:custGeom>
              <a:avLst/>
              <a:gdLst/>
              <a:ahLst/>
              <a:cxnLst/>
              <a:rect l="l" t="t" r="r" b="b"/>
              <a:pathLst>
                <a:path w="4499737" h="1972145">
                  <a:moveTo>
                    <a:pt x="0" y="0"/>
                  </a:moveTo>
                  <a:lnTo>
                    <a:pt x="4499737" y="0"/>
                  </a:lnTo>
                  <a:lnTo>
                    <a:pt x="4499737" y="1972145"/>
                  </a:lnTo>
                  <a:lnTo>
                    <a:pt x="0" y="1972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868" b="-3866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 rot="0">
            <a:off x="0" y="253305"/>
            <a:ext cx="2688958" cy="1183542"/>
            <a:chOff x="0" y="0"/>
            <a:chExt cx="2730789" cy="1201953"/>
          </a:xfrm>
        </p:grpSpPr>
        <p:sp>
          <p:nvSpPr>
            <p:cNvPr id="23" name="Freeform 23" descr="Your startup LOGO"/>
            <p:cNvSpPr/>
            <p:nvPr/>
          </p:nvSpPr>
          <p:spPr>
            <a:xfrm>
              <a:off x="0" y="0"/>
              <a:ext cx="2730748" cy="1201966"/>
            </a:xfrm>
            <a:custGeom>
              <a:avLst/>
              <a:gdLst/>
              <a:ahLst/>
              <a:cxnLst/>
              <a:rect l="l" t="t" r="r" b="b"/>
              <a:pathLst>
                <a:path w="2730748" h="1201966">
                  <a:moveTo>
                    <a:pt x="0" y="600981"/>
                  </a:moveTo>
                  <a:cubicBezTo>
                    <a:pt x="0" y="269099"/>
                    <a:pt x="611343" y="0"/>
                    <a:pt x="1365374" y="0"/>
                  </a:cubicBezTo>
                  <a:cubicBezTo>
                    <a:pt x="2119405" y="0"/>
                    <a:pt x="2730748" y="269099"/>
                    <a:pt x="2730748" y="600981"/>
                  </a:cubicBezTo>
                  <a:cubicBezTo>
                    <a:pt x="2730748" y="932864"/>
                    <a:pt x="2119405" y="1201966"/>
                    <a:pt x="1365374" y="1201966"/>
                  </a:cubicBezTo>
                  <a:cubicBezTo>
                    <a:pt x="611343" y="1201966"/>
                    <a:pt x="0" y="932864"/>
                    <a:pt x="0" y="60098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730789" cy="1259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548859" y="-362453"/>
            <a:ext cx="1863014" cy="2415056"/>
            <a:chOff x="0" y="0"/>
            <a:chExt cx="2606431" cy="337875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06431" cy="3378759"/>
            </a:xfrm>
            <a:custGeom>
              <a:avLst/>
              <a:gdLst/>
              <a:ahLst/>
              <a:cxnLst/>
              <a:rect l="l" t="t" r="r" b="b"/>
              <a:pathLst>
                <a:path w="2606431" h="3378759">
                  <a:moveTo>
                    <a:pt x="0" y="0"/>
                  </a:moveTo>
                  <a:lnTo>
                    <a:pt x="2606431" y="0"/>
                  </a:lnTo>
                  <a:lnTo>
                    <a:pt x="2606431" y="3378759"/>
                  </a:lnTo>
                  <a:lnTo>
                    <a:pt x="0" y="33787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68134" r="-461319" b="-61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2606431" cy="33882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000000"/>
                  </a:solidFill>
                  <a:latin typeface="Cambria Bold" panose="02040803050406030204"/>
                  <a:ea typeface="Cambria Bold" panose="02040803050406030204"/>
                  <a:cs typeface="Cambria Bold" panose="02040803050406030204"/>
                  <a:sym typeface="Cambria Bold" panose="02040803050406030204"/>
                </a:rPr>
                <a:t>NEXORA</a:t>
              </a:r>
              <a:endParaRPr lang="en-US" sz="3300" b="1">
                <a:solidFill>
                  <a:srgbClr val="000000"/>
                </a:solidFill>
                <a:latin typeface="Cambria Bold" panose="02040803050406030204"/>
                <a:ea typeface="Cambria Bold" panose="02040803050406030204"/>
                <a:cs typeface="Cambria Bold" panose="02040803050406030204"/>
                <a:sym typeface="Cambria Bold" panose="0204080305040603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0" y="9609237"/>
            <a:ext cx="18288000" cy="677763"/>
            <a:chOff x="0" y="0"/>
            <a:chExt cx="24384000" cy="90368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4384000" cy="903684"/>
            </a:xfrm>
            <a:custGeom>
              <a:avLst/>
              <a:gdLst/>
              <a:ahLst/>
              <a:cxnLst/>
              <a:rect l="l" t="t" r="r" b="b"/>
              <a:pathLst>
                <a:path w="24384000" h="903684">
                  <a:moveTo>
                    <a:pt x="0" y="0"/>
                  </a:moveTo>
                  <a:lnTo>
                    <a:pt x="24384000" y="0"/>
                  </a:lnTo>
                  <a:lnTo>
                    <a:pt x="24384000" y="903684"/>
                  </a:lnTo>
                  <a:lnTo>
                    <a:pt x="0" y="903684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7180704" y="9706826"/>
            <a:ext cx="157192" cy="40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0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Arial MT Pro" panose="020B0502020202020204"/>
                <a:ea typeface="Arial MT Pro" panose="020B0502020202020204"/>
                <a:cs typeface="Arial MT Pro" panose="020B0502020202020204"/>
                <a:sym typeface="Arial MT Pro" panose="020B0502020202020204"/>
              </a:rPr>
              <a:t>6</a:t>
            </a:r>
            <a:endParaRPr lang="en-US" sz="2225">
              <a:solidFill>
                <a:srgbClr val="000000"/>
              </a:solidFill>
              <a:latin typeface="Arial MT Pro" panose="020B0502020202020204"/>
              <a:ea typeface="Arial MT Pro" panose="020B0502020202020204"/>
              <a:cs typeface="Arial MT Pro" panose="020B0502020202020204"/>
              <a:sym typeface="Arial MT Pro" panose="020B0502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5908</Words>
  <Application>WPS Presentation</Application>
  <PresentationFormat>On-screen Show (4:3)</PresentationFormat>
  <Paragraphs>343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SimSun</vt:lpstr>
      <vt:lpstr>Wingdings</vt:lpstr>
      <vt:lpstr>Times New Roman Bold</vt:lpstr>
      <vt:lpstr>Garamond Bold</vt:lpstr>
      <vt:lpstr>Arial</vt:lpstr>
      <vt:lpstr>Arial Bold</vt:lpstr>
      <vt:lpstr>Calibri (MS) Italics</vt:lpstr>
      <vt:lpstr>League Spartan</vt:lpstr>
      <vt:lpstr>Calibri (MS) Bold</vt:lpstr>
      <vt:lpstr>Helvetica World Bold</vt:lpstr>
      <vt:lpstr>Cambria Bold</vt:lpstr>
      <vt:lpstr>Arial MT Pro</vt:lpstr>
      <vt:lpstr>Canva Sans 1 Bold</vt:lpstr>
      <vt:lpstr>Canva Sans 2 Bold</vt:lpstr>
      <vt:lpstr>Yu Gothic UI Semibold</vt:lpstr>
      <vt:lpstr>Calibri (MS) Bold Italics</vt:lpstr>
      <vt:lpstr>Aptos Bold</vt:lpstr>
      <vt:lpstr>Arial Nova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Nexora_Idea_Slide.pptx</dc:title>
  <dc:creator/>
  <cp:lastModifiedBy>Nithish Raj</cp:lastModifiedBy>
  <cp:revision>5</cp:revision>
  <dcterms:created xsi:type="dcterms:W3CDTF">2006-08-16T00:00:00Z</dcterms:created>
  <dcterms:modified xsi:type="dcterms:W3CDTF">2026-09-13T21:33:25Z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FC0EE9D046CA429EA7B0BFB3B8BE5292_12</vt:lpwstr>
  </property>
</Properties>
</file>